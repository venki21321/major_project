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68b6d209274bfa" /><Relationship Type="http://schemas.openxmlformats.org/officeDocument/2006/relationships/extended-properties" Target="/docProps/app.xml" Id="Rd6ebe0b7989d4f19" /><Relationship Type="http://schemas.openxmlformats.org/officeDocument/2006/relationships/officeDocument" Target="/ppt/presentation.xml" Id="R501c7c1ca5d845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1078d1d9f543f1"/>
  </p:sldMasterIdLst>
  <p:notesMasterIdLst>
    <p:notesMasterId xmlns:r="http://schemas.openxmlformats.org/officeDocument/2006/relationships" r:id="R4088806f9f7c41a3"/>
  </p:notesMasterIdLst>
  <p:sldIdLst>
    <p:sldId xmlns:r="http://schemas.openxmlformats.org/officeDocument/2006/relationships" id="256" r:id="R7f13b28925ac4aef"/>
    <p:sldId xmlns:r="http://schemas.openxmlformats.org/officeDocument/2006/relationships" id="257" r:id="R9168eff3ad024936"/>
    <p:sldId xmlns:r="http://schemas.openxmlformats.org/officeDocument/2006/relationships" id="258" r:id="R0ecaa7f9e70f42b9"/>
    <p:sldId xmlns:r="http://schemas.openxmlformats.org/officeDocument/2006/relationships" id="259" r:id="R74a03d9fbdc644c4"/>
    <p:sldId xmlns:r="http://schemas.openxmlformats.org/officeDocument/2006/relationships" id="260" r:id="Rd4b36692f47e483b"/>
    <p:sldId xmlns:r="http://schemas.openxmlformats.org/officeDocument/2006/relationships" id="261" r:id="R70d7966083144fcf"/>
    <p:sldId xmlns:r="http://schemas.openxmlformats.org/officeDocument/2006/relationships" id="262" r:id="R97c1f0855b7840fa"/>
    <p:sldId xmlns:r="http://schemas.openxmlformats.org/officeDocument/2006/relationships" id="263" r:id="R121399aa9c2445e8"/>
    <p:sldId xmlns:r="http://schemas.openxmlformats.org/officeDocument/2006/relationships" id="264" r:id="R86538a2b898d47e4"/>
    <p:sldId xmlns:r="http://schemas.openxmlformats.org/officeDocument/2006/relationships" id="265" r:id="Rd5dd345c26bb4108"/>
    <p:sldId xmlns:r="http://schemas.openxmlformats.org/officeDocument/2006/relationships" id="266" r:id="R50f22d21606c48a6"/>
    <p:sldId xmlns:r="http://schemas.openxmlformats.org/officeDocument/2006/relationships" id="267" r:id="R04d6c38b485543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082e7992a74144" /><Relationship Type="http://schemas.openxmlformats.org/officeDocument/2006/relationships/slideMaster" Target="/ppt/slideMasters/slideMaster1.xml" Id="R5d1078d1d9f543f1" /><Relationship Type="http://schemas.openxmlformats.org/officeDocument/2006/relationships/notesMaster" Target="/ppt/notesMasters/notesMaster1.xml" Id="R4088806f9f7c41a3" /><Relationship Type="http://schemas.openxmlformats.org/officeDocument/2006/relationships/presProps" Target="/ppt/presProps.xml" Id="R15436ce235c747e0" /><Relationship Type="http://schemas.openxmlformats.org/officeDocument/2006/relationships/tableStyles" Target="/ppt/tableStyles.xml" Id="R504763254e644c4f" /><Relationship Type="http://schemas.openxmlformats.org/officeDocument/2006/relationships/slide" Target="/ppt/slides/slide1.xml" Id="R7f13b28925ac4aef" /><Relationship Type="http://schemas.openxmlformats.org/officeDocument/2006/relationships/slide" Target="/ppt/slides/slide2.xml" Id="R9168eff3ad024936" /><Relationship Type="http://schemas.openxmlformats.org/officeDocument/2006/relationships/slide" Target="/ppt/slides/slide3.xml" Id="R0ecaa7f9e70f42b9" /><Relationship Type="http://schemas.openxmlformats.org/officeDocument/2006/relationships/slide" Target="/ppt/slides/slide4.xml" Id="R74a03d9fbdc644c4" /><Relationship Type="http://schemas.openxmlformats.org/officeDocument/2006/relationships/slide" Target="/ppt/slides/slide5.xml" Id="Rd4b36692f47e483b" /><Relationship Type="http://schemas.openxmlformats.org/officeDocument/2006/relationships/slide" Target="/ppt/slides/slide6.xml" Id="R70d7966083144fcf" /><Relationship Type="http://schemas.openxmlformats.org/officeDocument/2006/relationships/slide" Target="/ppt/slides/slide7.xml" Id="R97c1f0855b7840fa" /><Relationship Type="http://schemas.openxmlformats.org/officeDocument/2006/relationships/slide" Target="/ppt/slides/slide8.xml" Id="R121399aa9c2445e8" /><Relationship Type="http://schemas.openxmlformats.org/officeDocument/2006/relationships/slide" Target="/ppt/slides/slide9.xml" Id="R86538a2b898d47e4" /><Relationship Type="http://schemas.openxmlformats.org/officeDocument/2006/relationships/slide" Target="/ppt/slides/slide10.xml" Id="Rd5dd345c26bb4108" /><Relationship Type="http://schemas.openxmlformats.org/officeDocument/2006/relationships/slide" Target="/ppt/slides/slide11.xml" Id="R50f22d21606c48a6" /><Relationship Type="http://schemas.openxmlformats.org/officeDocument/2006/relationships/slide" Target="/ppt/slides/slide12.xml" Id="R04d6c38b485543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891c2f5ccb42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cc8a5e840040bb" /><Relationship Type="http://schemas.openxmlformats.org/officeDocument/2006/relationships/notesMaster" Target="/ppt/notesMasters/notesMaster1.xml" Id="R56eaffe3226740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2e61ef91a045f5" /><Relationship Type="http://schemas.openxmlformats.org/officeDocument/2006/relationships/notesMaster" Target="/ppt/notesMasters/notesMaster1.xml" Id="Ref77a91fc84f4a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c22f865eda40fc" /><Relationship Type="http://schemas.openxmlformats.org/officeDocument/2006/relationships/notesMaster" Target="/ppt/notesMasters/notesMaster1.xml" Id="Re3357e3ad5d548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7a540a92fd43f5" /><Relationship Type="http://schemas.openxmlformats.org/officeDocument/2006/relationships/notesMaster" Target="/ppt/notesMasters/notesMaster1.xml" Id="R74bde6076b1242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79314912e74fae" /><Relationship Type="http://schemas.openxmlformats.org/officeDocument/2006/relationships/notesMaster" Target="/ppt/notesMasters/notesMaster1.xml" Id="Rffefb7c766714c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10356ab26444bc" /><Relationship Type="http://schemas.openxmlformats.org/officeDocument/2006/relationships/notesMaster" Target="/ppt/notesMasters/notesMaster1.xml" Id="R4c3ff10ff56d45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de45c0f6b44c87" /><Relationship Type="http://schemas.openxmlformats.org/officeDocument/2006/relationships/notesMaster" Target="/ppt/notesMasters/notesMaster1.xml" Id="Rad7b0c9cde9c46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ac9e900bd04cc8" /><Relationship Type="http://schemas.openxmlformats.org/officeDocument/2006/relationships/notesMaster" Target="/ppt/notesMasters/notesMaster1.xml" Id="Ra081a62faae34d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ca9dbbcb724411" /><Relationship Type="http://schemas.openxmlformats.org/officeDocument/2006/relationships/notesMaster" Target="/ppt/notesMasters/notesMaster1.xml" Id="Rf750829602d141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c8ef228a164911" /><Relationship Type="http://schemas.openxmlformats.org/officeDocument/2006/relationships/notesMaster" Target="/ppt/notesMasters/notesMaster1.xml" Id="R8e4b6d1f5b20422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c03aadf1224210" /><Relationship Type="http://schemas.openxmlformats.org/officeDocument/2006/relationships/notesMaster" Target="/ppt/notesMasters/notesMaster1.xml" Id="Ra74c1a8223b4408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93212c4bcae4f95" /><Relationship Type="http://schemas.openxmlformats.org/officeDocument/2006/relationships/notesMaster" Target="/ppt/notesMasters/notesMaster1.xml" Id="R40cdd91ff6e046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source: Deepfake_Misinformation_Detection_IEEE_Paper.docx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source: Deepfake_Misinformation_Detection_IEEE_Paper.docx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source: Deepfake_Misinformation_Detection_IEEE_Paper.docx</a:t>
            </a:r>
          </a:p>
          <a:p xmlns:a="http://schemas.openxmlformats.org/drawingml/2006/main">
            <a:r>
              <a:t>https://doi.org/10.1109/ICCV.2019.00009</a:t>
            </a:r>
          </a:p>
          <a:p xmlns:a="http://schemas.openxmlformats.org/drawingml/2006/main">
            <a:r>
              <a:t>https://arxiv.org/abs/1809.01286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https://doi.org/10.1109/ICCV.2019.00009</a:t>
            </a:r>
          </a:p>
          <a:p xmlns:a="http://schemas.openxmlformats.org/drawingml/2006/main">
            <a:r>
              <a:t>https://arxiv.org/abs/1809.01286</a:t>
            </a:r>
          </a:p>
          <a:p xmlns:a="http://schemas.openxmlformats.org/drawingml/2006/main">
            <a:r>
              <a:t>https://aclanthology.org/2020.lrec-1.755/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source: Deepfake_Misinformation_Detection_IEEE_Paper.docx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source: Deepfake_Misinformation_Detection_IEEE_Paper.docx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source: Deepfake_Misinformation_Detection_IEEE_Paper.docx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source: Deepfake_Misinformation_Detection_IEEE_Paper.docx</a:t>
            </a:r>
          </a:p>
          <a:p xmlns:a="http://schemas.openxmlformats.org/drawingml/2006/main">
            <a:r>
              <a:t>Local project figure: paper_architecture.png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implementation: app.py, requirements files, Android application source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stored experiment metadata summarized in Deepfake_Misinformation_Detection_IEEE_Paper.docx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source: Deepfake_Misinformation_Detection_IEEE_Paper.docx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https://doi.org/10.1109/ICCV.2019.00009</a:t>
            </a:r>
          </a:p>
          <a:p xmlns:a="http://schemas.openxmlformats.org/drawingml/2006/main">
            <a:r>
              <a:t>https://arxiv.org/abs/1809.01286</a:t>
            </a:r>
          </a:p>
          <a:p xmlns:a="http://schemas.openxmlformats.org/drawingml/2006/main">
            <a:r>
              <a:t>https://proceedings.mlr.press/v97/tan19a.html</a:t>
            </a:r>
          </a:p>
          <a:p xmlns:a="http://schemas.openxmlformats.org/drawingml/2006/main">
            <a:r>
              <a:t>https://aclanthology.org/N18-1074/</a:t>
            </a:r>
          </a:p>
          <a:p xmlns:a="http://schemas.openxmlformats.org/drawingml/2006/main">
            <a:r>
              <a:t>https://aclanthology.org/2020.lrec-1.755/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732627c5ed49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69af01b3f34f54" /><Relationship Type="http://schemas.openxmlformats.org/officeDocument/2006/relationships/slideLayout" Target="/ppt/slideLayouts/slideLayout1.xml" Id="R42f14a6d72554f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f14a6d72554f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bb1d171f04c43" /><Relationship Type="http://schemas.openxmlformats.org/officeDocument/2006/relationships/notesSlide" Target="/ppt/notesSlides/notesSlide1.xml" Id="Rc93fb29d52b445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e1f5bf93d4bf0" /><Relationship Type="http://schemas.openxmlformats.org/officeDocument/2006/relationships/notesSlide" Target="/ppt/notesSlides/notesSlide2.xml" Id="Rb1811a475bbd4d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b5eb420dc4543" /><Relationship Type="http://schemas.openxmlformats.org/officeDocument/2006/relationships/notesSlide" Target="/ppt/notesSlides/notesSlide3.xml" Id="R8f2255d31a3446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bb5a07008746d5" /><Relationship Type="http://schemas.openxmlformats.org/officeDocument/2006/relationships/notesSlide" Target="/ppt/notesSlides/notesSlide4.xml" Id="R34546a80da0346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3a8e02b6f4936" /><Relationship Type="http://schemas.openxmlformats.org/officeDocument/2006/relationships/notesSlide" Target="/ppt/notesSlides/notesSlide5.xml" Id="Rbe25b854ed0044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5394d82bc4db8" /><Relationship Type="http://schemas.openxmlformats.org/officeDocument/2006/relationships/notesSlide" Target="/ppt/notesSlides/notesSlide6.xml" Id="Rebced9d8e91045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2d31dce744215" /><Relationship Type="http://schemas.openxmlformats.org/officeDocument/2006/relationships/notesSlide" Target="/ppt/notesSlides/notesSlide7.xml" Id="R75ee4aee09d14c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957b675cd4b49" /><Relationship Type="http://schemas.openxmlformats.org/officeDocument/2006/relationships/image" Target="/ppt/media/image.png" Id="R29c76585e0c14864" /><Relationship Type="http://schemas.openxmlformats.org/officeDocument/2006/relationships/notesSlide" Target="/ppt/notesSlides/notesSlide8.xml" Id="R53ca6fc837a843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efb4dea1f4b10" /><Relationship Type="http://schemas.openxmlformats.org/officeDocument/2006/relationships/notesSlide" Target="/ppt/notesSlides/notesSlide9.xml" Id="R44f13aa69a3746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50995b5c34fb5" /><Relationship Type="http://schemas.openxmlformats.org/officeDocument/2006/relationships/chart" Target="/ppt/slides/charts/chart1.xml" Id="Re920b5e52c2e4928" /><Relationship Type="http://schemas.openxmlformats.org/officeDocument/2006/relationships/notesSlide" Target="/ppt/notesSlides/notesSlide10.xml" Id="Rc34dd1495ab4488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23660f14d4059" /><Relationship Type="http://schemas.openxmlformats.org/officeDocument/2006/relationships/notesSlide" Target="/ppt/notesSlides/notesSlide11.xml" Id="R4eca6e3cb7a14a5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94f3b064a4ed6" /><Relationship Type="http://schemas.openxmlformats.org/officeDocument/2006/relationships/notesSlide" Target="/ppt/notesSlides/notesSlide12.xml" Id="Rbb54179c49d74bb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Score (%)</c:v>
          </c:tx>
          <c:spPr>
            <a:solidFill xmlns:a="http://schemas.openxmlformats.org/drawingml/2006/main">
              <a:srgbClr val="7A1F35"/>
            </a:solidFill>
          </c:spPr>
          <c:cat>
            <c:strLit>
              <c:ptCount val="5"/>
              <c:pt idx="0">
                <c:v>Image balanced accuracy</c:v>
              </c:pt>
              <c:pt idx="1">
                <c:v>Fake recall</c:v>
              </c:pt>
              <c:pt idx="2">
                <c:v>Real recall</c:v>
              </c:pt>
              <c:pt idx="3">
                <c:v>News accuracy</c:v>
              </c:pt>
              <c:pt idx="4">
                <c:v>News macro-F1</c:v>
              </c:pt>
            </c:strLit>
          </c:cat>
          <c:val>
            <c:numLit>
              <c:formatCode>General</c:formatCode>
              <c:ptCount val="5"/>
              <c:pt idx="0">
                <c:v>80.41</c:v>
              </c:pt>
              <c:pt idx="1">
                <c:v>76.09</c:v>
              </c:pt>
              <c:pt idx="2">
                <c:v>84.73</c:v>
              </c:pt>
              <c:pt idx="3">
                <c:v>65.4</c:v>
              </c:pt>
              <c:pt idx="4">
                <c:v>48.1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Percent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D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F0D3B0-A56B-410E-B924-4F62A590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9CE58-60B5-4C72-85ED-7CBC2CC7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1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7E888-4F41-48C2-AFE8-562EFE97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7A2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7A23A"/>
                </a:solidFill>
                <a:latin typeface="Aptos"/>
                <a:ea typeface="Aptos"/>
                <a:cs typeface="Aptos"/>
              </a:rPr>
              <a:t>MAJOR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2FAAE4-19A7-42E7-8E9D-0853FD80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809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Deepfake Image &amp;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Fake-News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13B072-9AC6-4F9B-AB7B-08B02E0C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E1F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8E1F0"/>
                </a:solidFill>
                <a:latin typeface="Aptos"/>
                <a:ea typeface="Aptos"/>
                <a:cs typeface="Aptos"/>
              </a:rPr>
              <a:t>A lightweight multimodal screening framework with uncertainty-aware decisions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637BA3-140B-4B34-B2E8-F3DD1DC8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904875"/>
            <a:ext cx="2286000" cy="2286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03653"/>
          </a:solidFill>
          <a:ln xmlns:a="http://schemas.openxmlformats.org/drawingml/2006/main" w="9525">
            <a:solidFill>
              <a:srgbClr val="3A52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DD704-9672-4332-96BB-10D773E9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3335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7A2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7A23A"/>
                </a:solidFill>
                <a:latin typeface="Aptos"/>
                <a:ea typeface="Aptos"/>
                <a:cs typeface="Aptos"/>
              </a:rPr>
              <a:t>IMAGE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5559A-BD0B-40B7-B841-A8B5931A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907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32A192-9DB5-40CF-94EC-D5EE0EE5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3362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7A2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7A23A"/>
                </a:solidFill>
                <a:latin typeface="Aptos"/>
                <a:ea typeface="Aptos"/>
                <a:cs typeface="Aptos"/>
              </a:rPr>
              <a:t>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799CF9-7F8D-43ED-81A1-2985E172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D9D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D9DF"/>
                </a:solidFill>
                <a:latin typeface="Aptos"/>
                <a:ea typeface="Aptos"/>
                <a:cs typeface="Aptos"/>
              </a:rPr>
              <a:t>Presented by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A5AC17-135F-42F0-8BEB-5DD51D7E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953125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Venuprasad  •  J Thanmay Gowda  •  Rushikeshan  •  Vinod 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34A433-8CE5-4624-A7DF-FF2B2149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3D9D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3D9DF"/>
                </a:solidFill>
                <a:latin typeface="Aptos"/>
                <a:ea typeface="Aptos"/>
                <a:cs typeface="Aptos"/>
              </a:rPr>
              <a:t>Guided by Dr. Chandhini A G  |  BGSCET</a:t>
            </a:r>
          </a:p>
        </p:txBody>
      </p:sp>
    </p:spTree>
    <p:extLst>
      <p:ext uri="{BB962C8B-B14F-4D97-AF65-F5344CB8AC3E}">
        <p14:creationId xmlns:p14="http://schemas.microsoft.com/office/powerpoint/2010/main" val="6802022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64641A-B411-4ACE-AE6E-B5AABBC4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1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D78C1-8219-4460-91A2-9E177EFB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A2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7A23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553ED-7FCE-4EAC-ADF6-15431B23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Abstract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419D4-987A-404E-8B5C-289E8E55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4B403F-C379-4235-A276-E228122A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2573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7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77D"/>
                </a:solidFill>
                <a:latin typeface="Aptos"/>
                <a:ea typeface="Aptos"/>
                <a:cs typeface="Aptos"/>
              </a:rPr>
              <a:t>One application, two detection paths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AB991-53D1-49E4-B9D2-505D3E59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7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77D"/>
                </a:solidFill>
                <a:latin typeface="Aptos"/>
                <a:ea typeface="Aptos"/>
                <a:cs typeface="Aptos"/>
              </a:rPr>
              <a:t>BGSCET  •  Department of AI &amp; Data Science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4539C-0FE3-4156-8E2E-25B5D8AC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7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77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677D5C-3932-40F8-B816-74C8CBFD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28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The system screens manipulated facial images and suspicious news text through independent models served by a common Flask backend.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42DF74-2C52-4F37-AD39-84809356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8B1EAA-798F-461A-A441-A4C46CD9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143250"/>
            <a:ext cx="5953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EfficientNet-B0 for binary image classification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1AD1D1-1B2F-46AC-AFB3-803C8A55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C20620-DCB9-4EB5-B530-12466156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733800"/>
            <a:ext cx="5953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TF-IDF + logistic regression for news patterns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DDA72B-D222-4C54-A32D-986C070A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996234-561E-45BA-B405-AC2F925C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324350"/>
            <a:ext cx="5953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Web and Android clients share the same REST APIs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368104-9D1A-4922-B71B-ADEFB1E5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E67F42-884A-4DEF-953C-18C83DB8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914900"/>
            <a:ext cx="5953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Low-confidence predictions are routed to manual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A9E898-262D-4481-88B9-74ADB02E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09750"/>
            <a:ext cx="3619500" cy="3714750"/>
          </a:xfrm>
          <a:prstGeom xmlns:a="http://schemas.openxmlformats.org/drawingml/2006/main" prst="roundRect">
            <a:avLst>
              <a:gd name="adj" fmla="val 5789"/>
            </a:avLst>
          </a:prstGeom>
          <a:solidFill xmlns:a="http://schemas.openxmlformats.org/drawingml/2006/main">
            <a:srgbClr val="13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C49DB3-3075-429F-8C63-BEF081ED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A2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7A23A"/>
                </a:solidFill>
                <a:latin typeface="Aptos"/>
                <a:ea typeface="Aptos"/>
                <a:cs typeface="Aptos"/>
              </a:rPr>
              <a:t>Core outcome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FF0A3C-A8C7-45B7-AC1A-42D1A491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622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80.41%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6CE7FA-1A74-4318-9254-DA5DFF67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766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2F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9E2F1"/>
                </a:solidFill>
                <a:latin typeface="Aptos"/>
                <a:ea typeface="Aptos"/>
                <a:cs typeface="Aptos"/>
              </a:rPr>
              <a:t>image test balanced accuracy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218616-E3DD-4D23-A751-B17E85ED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33875"/>
            <a:ext cx="2714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Honest evaluation matters as much as model choice.</a:t>
            </a:r>
          </a:p>
        </p:txBody>
      </p:sp>
    </p:spTree>
    <p:extLst>
      <p:ext uri="{BB962C8B-B14F-4D97-AF65-F5344CB8AC3E}">
        <p14:creationId xmlns:p14="http://schemas.microsoft.com/office/powerpoint/2010/main" val="1927469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9683D6-4D45-4882-A1DD-02DBE9CA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1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EC69B-4A98-4304-8DFD-720E230D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A2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7A23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BEE19-4CCF-4B42-8CF2-D9AA7F66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Introduction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44AC54-7488-499B-A5ED-1C00249B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DF929B-36F4-40BD-8CF8-FCEE7350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2573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7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77D"/>
                </a:solidFill>
                <a:latin typeface="Aptos"/>
                <a:ea typeface="Aptos"/>
                <a:cs typeface="Aptos"/>
              </a:rPr>
              <a:t>Digital trust requires evidence from both pixels and language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44CECF-05BD-458D-ADAA-1153B0C8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7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77D"/>
                </a:solidFill>
                <a:latin typeface="Aptos"/>
                <a:ea typeface="Aptos"/>
                <a:cs typeface="Aptos"/>
              </a:rPr>
              <a:t>BGSCET  •  Department of AI &amp; Data Science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61F3B-F7B5-44BA-B1D5-79B9BE01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7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77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77A1A-BBE8-44E8-A455-833200EF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A1F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1F35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0F11BA-047B-4531-BBC6-A8BF34A2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905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Synthetic faces and fast-moving misinformation can appear credible while carrying weak or manipulated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304630-E5FE-4FCF-A39E-A3A89426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2166C5-F8D8-4234-AD91-2A8AEF00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0955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A1F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1F35"/>
                </a:solidFill>
                <a:latin typeface="Aptos"/>
                <a:ea typeface="Aptos"/>
                <a:cs typeface="Aptos"/>
              </a:rPr>
              <a:t>IMAGE PATH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E25C22-14E2-4921-AEEB-3F123533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4288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Learns spatial artifacts, texture inconsistencies and facial manipulation cues.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E5FAC1-1655-434C-BCCC-36DBD36F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76625"/>
            <a:ext cx="4572000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F4E7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DE5654-E2AE-4526-ACD9-3C7CB381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7623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A1F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1F35"/>
                </a:solidFill>
                <a:latin typeface="Aptos"/>
                <a:ea typeface="Aptos"/>
                <a:cs typeface="Aptos"/>
              </a:rPr>
              <a:t>TEXT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81EC4D-B2E8-4D54-99CA-8386EC95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095750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Learns vocabulary and language patterns—but cannot independently prove a claim true.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5F0D18-D733-4BD7-AAB3-56833D0A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C677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C677D"/>
                </a:solidFill>
                <a:latin typeface="Aptos"/>
                <a:ea typeface="Aptos"/>
                <a:cs typeface="Aptos"/>
              </a:rPr>
              <a:t>The project combines both paths without pretending they are the same problem.</a:t>
            </a:r>
          </a:p>
        </p:txBody>
      </p:sp>
    </p:spTree>
    <p:extLst>
      <p:ext uri="{BB962C8B-B14F-4D97-AF65-F5344CB8AC3E}">
        <p14:creationId xmlns:p14="http://schemas.microsoft.com/office/powerpoint/2010/main" val="10823259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62D709-30AF-4843-8390-4CA3E8E1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1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B823B-2DB9-475A-8EF6-F3E3CD56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A2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7A23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8EB86A-437F-4F53-A019-3E7F2E3A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Literature Survey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2229C1-2B38-47C2-A49B-11A9BCA6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3EB6E4-775E-49FD-B865-2121BBAD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2573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7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77D"/>
                </a:solidFill>
                <a:latin typeface="Aptos"/>
                <a:ea typeface="Aptos"/>
                <a:cs typeface="Aptos"/>
              </a:rPr>
              <a:t>Prior work motivates a lightweight multimodal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7C4DB7-6402-40D7-9CDE-60219C29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7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77D"/>
                </a:solidFill>
                <a:latin typeface="Aptos"/>
                <a:ea typeface="Aptos"/>
                <a:cs typeface="Aptos"/>
              </a:rPr>
              <a:t>BGSCET  •  Department of AI &amp; Data Science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8C329C-358C-47C9-8F4E-375C6F5C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7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77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286000"/>
                <a:gridCol w="2952750"/>
                <a:gridCol w="3486150"/>
              </a:tblGrid>
              <a:tr h="9286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Study</a:t>
                      </a:r>
                    </a:p>
                  </a:txBody>
                  <a:tcPr marL="91440" marR="91440" marT="45720" marB="45720" anchor="ctr"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Focus</a:t>
                      </a:r>
                    </a:p>
                  </a:txBody>
                  <a:tcPr marL="91440" marR="91440" marT="45720" marB="45720" anchor="ctr"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marL="91440" marR="91440" marT="45720" marB="45720" anchor="ctr">
                    <a:solidFill>
                      <a:srgbClr val="1323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Project insight</a:t>
                      </a:r>
                    </a:p>
                  </a:txBody>
                  <a:tcPr marL="91440" marR="91440" marT="45720" marB="45720" anchor="ctr">
                    <a:solidFill>
                      <a:srgbClr val="13233F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</a:rPr>
                        <a:t>Rössler et al., 2019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</a:rPr>
                        <a:t>Deepfake faces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</a:rPr>
                        <a:t>FaceForensics++ benchmark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</a:rPr>
                        <a:t>Compression and manipulation type affect accuracy.</a:t>
                      </a:r>
                    </a:p>
                  </a:txBody>
                  <a:tcPr marL="114300" marR="114300" marT="76200" marB="76200" anchor="ctr"/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</a:rPr>
                        <a:t>Shu et al., 2018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</a:rPr>
                        <a:t>Fake news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</a:rPr>
                        <a:t>Content + social context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</a:rPr>
                        <a:t>Article text alone misses propagation evidence.</a:t>
                      </a:r>
                    </a:p>
                  </a:txBody>
                  <a:tcPr marL="114300" marR="114300" marT="76200" marB="76200" anchor="ctr"/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</a:rPr>
                        <a:t>Nakamura et al., 2020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</a:rPr>
                        <a:t>Multimodal news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</a:rPr>
                        <a:t>Fakeddit benchmark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033"/>
                          </a:solidFill>
                        </a:rPr>
                        <a:t>Text and images benefit from joint investigation.</a:t>
                      </a:r>
                    </a:p>
                  </a:txBody>
                  <a:tcPr marL="114300" marR="114300" marT="76200" marB="762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14376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1DF95B-D722-4F6C-A56F-1997DD14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1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6DF45-00B3-4354-AFD2-A41A6D65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A2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7A23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89F290-78D0-4A8E-9743-F91B05E6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Problem Statement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A6D332-3828-435A-8D0D-E9618712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319290-BBE7-4ABF-99E0-BBF5113F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2573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7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77D"/>
                </a:solidFill>
                <a:latin typeface="Aptos"/>
                <a:ea typeface="Aptos"/>
                <a:cs typeface="Aptos"/>
              </a:rPr>
              <a:t>Current screening tools create three practical risks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0CD6E0-A78B-431A-AACC-38CEA0E0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7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77D"/>
                </a:solidFill>
                <a:latin typeface="Aptos"/>
                <a:ea typeface="Aptos"/>
                <a:cs typeface="Aptos"/>
              </a:rPr>
              <a:t>BGSCET  •  Department of AI &amp; Data Science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0C63C8-7C56-4B45-9085-EA3131E1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7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77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54033D-D5C8-4860-B717-50D0BE9E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238500" cy="29527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9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0B464E-029F-481D-9731-C15002E8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A1F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A1F3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A55815-7C35-47E5-89F8-1DF4BB25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FRAGMENTED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1FE1E-809F-4E03-932D-C5E33412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81375"/>
            <a:ext cx="2619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7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C677D"/>
                </a:solidFill>
                <a:latin typeface="Aptos"/>
                <a:ea typeface="Aptos"/>
                <a:cs typeface="Aptos"/>
              </a:rPr>
              <a:t>Image and news checks are usually performed in separate systems.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AA9C29-C4F3-4B63-8FB5-FD45FE62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3238500" cy="29527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3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26908A-E452-41DB-BFD4-9D64DA5F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383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A2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7A23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93DA5D-74CB-4309-B60A-E8CBC6DA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575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BRITTLE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7149D1-1C6D-44B3-B9BF-2B827DF1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81375"/>
            <a:ext cx="2619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1E8F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1E8F3"/>
                </a:solidFill>
                <a:latin typeface="Aptos"/>
                <a:ea typeface="Aptos"/>
                <a:cs typeface="Aptos"/>
              </a:rPr>
              <a:t>Models can weaken on unseen generators, compression and new sources.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53532C-0900-4AFF-A607-FD4629C9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0250"/>
            <a:ext cx="3238500" cy="29527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9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2A401E-F679-4EC6-AB81-54DD4613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383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A1F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A1F3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B9A4D2-9056-4E47-BCAB-6654450B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OVERCONFIDENT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8D5E3E-33C4-4A91-B2B1-5DE12219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81375"/>
            <a:ext cx="2619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7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C677D"/>
                </a:solidFill>
                <a:latin typeface="Aptos"/>
                <a:ea typeface="Aptos"/>
                <a:cs typeface="Aptos"/>
              </a:rPr>
              <a:t>Forced binary labels can hide ambiguity and mislead users.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2253A7-D395-4884-8EE7-D1F61DA8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A1F3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7A1F35"/>
                </a:solidFill>
                <a:latin typeface="Aptos"/>
                <a:ea typeface="Aptos"/>
                <a:cs typeface="Aptos"/>
              </a:rPr>
              <a:t>Need: one deployable, uncertainty-aware screening service.</a:t>
            </a:r>
          </a:p>
        </p:txBody>
      </p:sp>
    </p:spTree>
    <p:extLst>
      <p:ext uri="{BB962C8B-B14F-4D97-AF65-F5344CB8AC3E}">
        <p14:creationId xmlns:p14="http://schemas.microsoft.com/office/powerpoint/2010/main" val="2931271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BF730C-63E6-40B8-B249-6D8352B8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1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68ADF2-45E8-4648-8077-97C74896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A2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7A23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AA18DC-355F-4C6B-A7F7-7B69254F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Research Gap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03C5D-AB17-4A4C-B374-4A908B5B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1D8BC-85EA-4BD3-B30A-7EE4FCEA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2573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7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77D"/>
                </a:solidFill>
                <a:latin typeface="Aptos"/>
                <a:ea typeface="Aptos"/>
                <a:cs typeface="Aptos"/>
              </a:rPr>
              <a:t>The missing piece is responsible integration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66F75-3773-487F-B995-4CC5C81B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7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77D"/>
                </a:solidFill>
                <a:latin typeface="Aptos"/>
                <a:ea typeface="Aptos"/>
                <a:cs typeface="Aptos"/>
              </a:rPr>
              <a:t>BGSCET  •  Department of AI &amp; Data Science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C7406-F925-4FF4-A8CC-767D6BA5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7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77D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BF99A9-79A7-4F0B-8F13-4CC7FF9B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What existing work often does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18BEED-88E4-49BA-9D0C-56D74B8A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272206-264D-4DDE-9936-A24C1E6D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428875"/>
            <a:ext cx="433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Optimizes a single modality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319866-EE2E-4A71-8555-38C49C07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0FACD5-146B-41E0-A32C-4BB1015E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048000"/>
            <a:ext cx="433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Uses random splits that hide source shift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0C1633-D258-4C9C-B774-C95DBCB0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7179AA-D54C-4702-B4EF-A3B72D2C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667125"/>
            <a:ext cx="433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Returns confident labels for borderline cases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AAD2F9-A24B-44AA-AAE4-F381A8E5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8E9CD2-2894-475A-80DD-917598AD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286250"/>
            <a:ext cx="433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Stops at model evaluation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94C449-252E-4796-9A8C-FDD35491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62125"/>
            <a:ext cx="381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D6BDC7-E0B5-490E-BD69-7A587C7A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5737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A1F3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7A1F35"/>
                </a:solidFill>
                <a:latin typeface="Aptos"/>
                <a:ea typeface="Aptos"/>
                <a:cs typeface="Aptos"/>
              </a:rPr>
              <a:t>What this project adds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44426C-8510-4EFD-AB25-ACC4FC7C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050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1BB0D9-D24F-4C5F-8711-D663583E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28875"/>
            <a:ext cx="433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Unified image and text screening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D7B98C-1762-4964-ACDA-4BA115E9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24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A038AF-4019-48F8-83D7-10B1D466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48000"/>
            <a:ext cx="433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Source-held-out evaluation for news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06B14E-3380-4504-B70B-44AFEB01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433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BAEEBF-408C-4AC8-B901-17AE5A38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67125"/>
            <a:ext cx="433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Explicit “manual review” outcomes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AD403E-B3DA-4CEC-820F-5C11209C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62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17E164-8762-428A-AEE8-FA720469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86250"/>
            <a:ext cx="433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Web and Android deployment</a:t>
            </a:r>
          </a:p>
        </p:txBody>
      </p:sp>
    </p:spTree>
    <p:extLst>
      <p:ext uri="{BB962C8B-B14F-4D97-AF65-F5344CB8AC3E}">
        <p14:creationId xmlns:p14="http://schemas.microsoft.com/office/powerpoint/2010/main" val="11440585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68905D-11DC-4C1B-A406-6138068E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1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9C901-3018-4052-941B-F79C310E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A2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7A23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A2BA43-A614-47BA-BC46-8D803969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Objectives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077269-8D76-4D91-A049-0C698E15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0D492-D4DF-4F9A-8466-A7574EC2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2573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7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77D"/>
                </a:solidFill>
                <a:latin typeface="Aptos"/>
                <a:ea typeface="Aptos"/>
                <a:cs typeface="Aptos"/>
              </a:rPr>
              <a:t>Build, evaluate and deploy without overstating certainty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DC34B7-A631-4B02-8271-03669D80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7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77D"/>
                </a:solidFill>
                <a:latin typeface="Aptos"/>
                <a:ea typeface="Aptos"/>
                <a:cs typeface="Aptos"/>
              </a:rPr>
              <a:t>BGSCET  •  Department of AI &amp; Data Science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909CF7-B5DD-49F6-84F8-47812AB9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7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77D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DA6406-1C9C-4379-9F43-360A24F7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A2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7A23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D32B45-A7D2-48B2-B573-39D8843D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240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Detect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A7BC9E-5841-4A18-BEA4-1B8FC1E6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62125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7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C677D"/>
                </a:solidFill>
                <a:latin typeface="Aptos"/>
                <a:ea typeface="Aptos"/>
                <a:cs typeface="Aptos"/>
              </a:rPr>
              <a:t>Manipulated facial images with transfer learning.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71403E-C1B7-42E2-B012-39D6EDF4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193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C9DB7B-3CCB-4D80-ACCD-3F870FBE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A2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7A23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1C29E4-B336-46CE-BE02-DF9BF8A5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622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Screen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94EE59-2CE3-4B83-ADE6-A1868915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00325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7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C677D"/>
                </a:solidFill>
                <a:latin typeface="Aptos"/>
                <a:ea typeface="Aptos"/>
                <a:cs typeface="Aptos"/>
              </a:rPr>
              <a:t>Suspicious news using sparse language features.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2B7410-3518-456A-9E60-47DC9013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57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F48999-8410-4CB1-A88F-E6628E6B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A2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7A23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108721-A15A-428B-A766-19A7A388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004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Evaluate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E1662D-5000-4B7A-BF2A-1B4C5593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38525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7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C677D"/>
                </a:solidFill>
                <a:latin typeface="Aptos"/>
                <a:ea typeface="Aptos"/>
                <a:cs typeface="Aptos"/>
              </a:rPr>
              <a:t>Balanced image metrics and held-out news sources.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928C1B-1A29-4B17-84BF-8526413C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957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18CC2B-44FE-458E-81F5-1AA4D2A8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A2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7A23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C1D9E8-E35D-45EA-AA63-E1B6B29D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Calibrate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A6EACF-4739-4D74-A3B3-61FCDEEE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76725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7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C677D"/>
                </a:solidFill>
                <a:latin typeface="Aptos"/>
                <a:ea typeface="Aptos"/>
                <a:cs typeface="Aptos"/>
              </a:rPr>
              <a:t>Thresholds and uncertainty rejection.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02B194-399B-410D-A150-1D6F9C2E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339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DC2D0A-F0D5-4AB7-87BD-262B1856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A2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7A23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14CCA1-424A-4118-8D30-47A2EAF3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768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Deploy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FEC1DB-CE12-4360-A67D-C3220096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14925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7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C677D"/>
                </a:solidFill>
                <a:latin typeface="Aptos"/>
                <a:ea typeface="Aptos"/>
                <a:cs typeface="Aptos"/>
              </a:rPr>
              <a:t>Shared Flask APIs for web and Android.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7E21F1-8FC9-4D72-9046-03CD965F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5721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840092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371784-34D5-4895-9782-ECBD949B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1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080FD-0719-46F3-B9B2-C194410B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A2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7A23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C88CD5-370F-4C27-99E1-8C7C5011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Methodology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E5DBE-10D0-4FA3-AE96-02513B39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7A69B-66F3-41B9-A9BD-14E1B410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2573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7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77D"/>
                </a:solidFill>
                <a:latin typeface="Aptos"/>
                <a:ea typeface="Aptos"/>
                <a:cs typeface="Aptos"/>
              </a:rPr>
              <a:t>Two independent inference paths converge at one service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20BBBB-01E7-4A3E-B14E-315A2614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7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77D"/>
                </a:solidFill>
                <a:latin typeface="Aptos"/>
                <a:ea typeface="Aptos"/>
                <a:cs typeface="Aptos"/>
              </a:rPr>
              <a:t>BGSCET  •  Department of AI &amp; Data Science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76F4C-E76A-442C-B3E0-9708B8C9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7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77D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c76585e0c14864"/>
          <a:stretch xmlns:a="http://schemas.openxmlformats.org/drawingml/2006/main"/>
        </p:blipFill>
        <p:spPr>
          <a:xfrm xmlns:a="http://schemas.openxmlformats.org/drawingml/2006/main">
            <a:off x="1562100" y="1666875"/>
            <a:ext cx="5829300" cy="4286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AC0A2D-CAB3-4A25-8BA7-35BE2A20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2667000" cy="42862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3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22F486-6EEA-4235-90F6-F4D8457B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095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7A2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7A23A"/>
                </a:solidFill>
                <a:latin typeface="Aptos"/>
                <a:ea typeface="Aptos"/>
                <a:cs typeface="Aptos"/>
              </a:rPr>
              <a:t>IMAGE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2AE10A-69F0-4158-AB69-192AB24E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524125"/>
            <a:ext cx="2000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22,044 faces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70 / 15 / 15 split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EfficientNet-B0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Threshold calibration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3B3DF6-09E2-4463-ADED-2657587D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48125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F9651A-1B1D-492E-95E2-F4F41129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3338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7A2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7A23A"/>
                </a:solidFill>
                <a:latin typeface="Aptos"/>
                <a:ea typeface="Aptos"/>
                <a:cs typeface="Aptos"/>
              </a:rPr>
              <a:t>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6DE527-959B-4C36-8BD3-EEB2E6DF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762500"/>
            <a:ext cx="2000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186,032 records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TF-IDF uni/bigrams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Logistic regression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Held-out source test</a:t>
            </a:r>
          </a:p>
        </p:txBody>
      </p:sp>
    </p:spTree>
    <p:extLst>
      <p:ext uri="{BB962C8B-B14F-4D97-AF65-F5344CB8AC3E}">
        <p14:creationId xmlns:p14="http://schemas.microsoft.com/office/powerpoint/2010/main" val="17998097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1A77CD-083F-4141-AB6B-597C888C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1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133306-374E-422A-BE28-5306535B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A2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7A23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E8EDF-F909-4F3D-AC4B-3B114C75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Technology Used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CF24F-D307-4DED-BDEA-518B45B3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5403C-4498-4CB0-B069-0871689B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2573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7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77D"/>
                </a:solidFill>
                <a:latin typeface="Aptos"/>
                <a:ea typeface="Aptos"/>
                <a:cs typeface="Aptos"/>
              </a:rPr>
              <a:t>A lightweight stack supports training, serving and mobile access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A3B50-35E7-40AB-B537-1D25E9E8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7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77D"/>
                </a:solidFill>
                <a:latin typeface="Aptos"/>
                <a:ea typeface="Aptos"/>
                <a:cs typeface="Aptos"/>
              </a:rPr>
              <a:t>BGSCET  •  Department of AI &amp; Data Science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28C0B-A9F7-4D59-A800-3A5BA3D5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7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77D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08E0AC-8CE8-4203-8D08-74AA0179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857375" cy="2762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A27296-E2CA-4D3C-8883-124B1B2B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A1F3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A1F35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2C4878-6A27-4934-AF46-DC0EB388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9875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TensorFlow / Keras</a:t>
            </a:r>
          </a:p>
          <a:p xmlns:a="http://schemas.openxmlformats.org/drawingml/2006/main">
            <a:pPr algn="l">
              <a:defRPr sz="165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EfficientNet-B0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F1B2BA-46D7-4C27-8CFB-0AD487FE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000250"/>
            <a:ext cx="1857375" cy="2762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9525">
            <a:solidFill>
              <a:srgbClr val="CFD6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FD9FA4-FCD2-4288-AB34-6B847201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286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A1F3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A1F35"/>
                </a:solidFill>
                <a:latin typeface="Aptos"/>
                <a:ea typeface="Aptos"/>
                <a:cs typeface="Aptos"/>
              </a:rPr>
              <a:t>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92370E-F39D-40F8-A4BE-723FBDCB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809875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scikit-learn</a:t>
            </a:r>
          </a:p>
          <a:p xmlns:a="http://schemas.openxmlformats.org/drawingml/2006/main">
            <a:pPr algn="l">
              <a:defRPr sz="165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TF-IDF + Logistic Regression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638AC5-608A-4F85-9BA0-6C5B3CD5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00250"/>
            <a:ext cx="1857375" cy="2762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173505-043D-418D-993C-4106EE56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86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A1F3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A1F35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9C32D4-FD6F-442D-8037-7871E8CF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09875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Python / Flask</a:t>
            </a:r>
          </a:p>
          <a:p xmlns:a="http://schemas.openxmlformats.org/drawingml/2006/main">
            <a:pPr algn="l">
              <a:defRPr sz="165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REST + 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670080-3113-4479-9C3B-DDF7E5AB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000250"/>
            <a:ext cx="1857375" cy="2762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9525">
            <a:solidFill>
              <a:srgbClr val="CFD6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658D08-9FE8-460D-8BA4-853049C3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286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A1F3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A1F35"/>
                </a:solidFill>
                <a:latin typeface="Aptos"/>
                <a:ea typeface="Aptos"/>
                <a:cs typeface="Aptos"/>
              </a:rPr>
              <a:t>CLIENTS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168CE4-FEEC-42A5-ABC3-39621271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809875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HTML/CSS/JS</a:t>
            </a:r>
          </a:p>
          <a:p xmlns:a="http://schemas.openxmlformats.org/drawingml/2006/main">
            <a:pPr algn="l">
              <a:defRPr sz="165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Native Android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B37CB9-B7AA-4D86-84A7-03AF4031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00250"/>
            <a:ext cx="1857375" cy="2762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6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3211CB-FFD5-44DC-A570-E88E92E1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86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A1F3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A1F35"/>
                </a:solidFill>
                <a:latin typeface="Aptos"/>
                <a:ea typeface="Aptos"/>
                <a:cs typeface="Aptos"/>
              </a:rPr>
              <a:t>VISION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0CC739-14A2-4AD6-8C7A-A3ACED2C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09875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OpenCV / Pillow</a:t>
            </a:r>
          </a:p>
          <a:p xmlns:a="http://schemas.openxmlformats.org/drawingml/2006/main">
            <a:pPr algn="l">
              <a:defRPr sz="165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Artifact maps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F25EC7-3B11-44D2-81B1-9BCD3B6D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677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C677D"/>
                </a:solidFill>
                <a:latin typeface="Aptos"/>
                <a:ea typeface="Aptos"/>
                <a:cs typeface="Aptos"/>
              </a:rPr>
              <a:t>Deployment principle: model artifacts remain separate from interface code, enabling controlled upgrades.</a:t>
            </a:r>
          </a:p>
        </p:txBody>
      </p:sp>
    </p:spTree>
    <p:extLst>
      <p:ext uri="{BB962C8B-B14F-4D97-AF65-F5344CB8AC3E}">
        <p14:creationId xmlns:p14="http://schemas.microsoft.com/office/powerpoint/2010/main" val="4012299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037B7F-BB17-4A46-B4A5-696407B0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1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D80CC-C1B2-4C46-828A-D0F8E2EA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A2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7A23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0C1107-1C21-47E0-9EE6-D6BF6FB4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Experimental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94C19-F3C2-4382-8984-2D17F0AB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582A51-A5A6-4B4C-9BF5-C6E5BA47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2573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7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77D"/>
                </a:solidFill>
                <a:latin typeface="Aptos"/>
                <a:ea typeface="Aptos"/>
                <a:cs typeface="Aptos"/>
              </a:rPr>
              <a:t>Image detection is promising; cross-source news transfer remains weak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FEBA8-62F5-49B9-A863-D8AAA917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7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77D"/>
                </a:solidFill>
                <a:latin typeface="Aptos"/>
                <a:ea typeface="Aptos"/>
                <a:cs typeface="Aptos"/>
              </a:rPr>
              <a:t>BGSCET  •  Department of AI &amp; Data Science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CC20F8-BC1A-41FF-ACEB-740F5BA2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7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7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85800" y="1905000"/>
          <a:ext xmlns:a="http://schemas.openxmlformats.org/drawingml/2006/main" cx="65722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920b5e52c2e4928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81B97C-6C09-45CA-B817-E5B3AD97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3333750" cy="14763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3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D2CC5D-4DBF-4D91-B936-58F02958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38375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84.73%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4F041A-5D0D-4B9C-9974-C24034B1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0987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5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5F2"/>
                </a:solidFill>
                <a:latin typeface="Aptos"/>
                <a:ea typeface="Aptos"/>
                <a:cs typeface="Aptos"/>
              </a:rPr>
              <a:t>real-image recall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FE1340-94B0-4CB6-BB5D-64E6F0FB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3333750" cy="18097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1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1EDDA1-39D0-494C-B1D3-4B28626F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005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A1F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1F35"/>
                </a:solidFill>
                <a:latin typeface="Aptos"/>
                <a:ea typeface="Aptos"/>
                <a:cs typeface="Aptos"/>
              </a:rPr>
              <a:t>Key limitation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4EE3E5-B8D0-49D4-A7C0-3BB9C04F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29125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Fake-news recall on the unseen source was only 15.5%.</a:t>
            </a:r>
          </a:p>
        </p:txBody>
      </p:sp>
    </p:spTree>
    <p:extLst>
      <p:ext uri="{BB962C8B-B14F-4D97-AF65-F5344CB8AC3E}">
        <p14:creationId xmlns:p14="http://schemas.microsoft.com/office/powerpoint/2010/main" val="4016142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65728D-30C4-40DA-B290-EB45EDFA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1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110863-877D-411E-94A5-A8ACCEDC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A2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7A23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140E1-F3BF-431E-8D7B-A0B53987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F8DCAF-CFC8-49A9-A1FB-17398AA8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771FE-1574-40A2-8177-86323884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2573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7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77D"/>
                </a:solidFill>
                <a:latin typeface="Aptos"/>
                <a:ea typeface="Aptos"/>
                <a:cs typeface="Aptos"/>
              </a:rPr>
              <a:t>The framework is useful when uncertainty remains visible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0D9BC-3358-490E-98C7-7A726C60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7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77D"/>
                </a:solidFill>
                <a:latin typeface="Aptos"/>
                <a:ea typeface="Aptos"/>
                <a:cs typeface="Aptos"/>
              </a:rPr>
              <a:t>BGSCET  •  Department of AI &amp; Data Science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A57AF5-DC97-43A3-993F-537A5EF6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7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77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A1436F-817C-4A41-AF95-E9D18C87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What was achieved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1D104-D99E-4169-9988-6D29C586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3E94DA-3053-45C8-8A80-61955AA9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428875"/>
            <a:ext cx="452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One service for image and news screening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A7E08D-0E52-4424-A402-21CDC300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EF6978-F628-47B9-B41F-A11A8A15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048000"/>
            <a:ext cx="452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80.41% image balanced accuracy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D59D57-51CB-43AB-9E00-246189FC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AD592D-A210-44B3-8812-547B8916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667125"/>
            <a:ext cx="452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Web and Android access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A4972C-D534-46B4-AECC-EE5B3ADF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7FBB6C-C5D5-4E5F-BB8E-A12EBDB0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286250"/>
            <a:ext cx="452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Manual-review state for weak predictions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F9C8AD-077C-4CB5-AAEE-02CB820C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381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3F2D76-0D99-4993-A767-06652FE7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A1F3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A1F35"/>
                </a:solidFill>
                <a:latin typeface="Aptos"/>
                <a:ea typeface="Aptos"/>
                <a:cs typeface="Aptos"/>
              </a:rPr>
              <a:t>What comes next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525CFF-8A1C-494D-B794-E0AC36CC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050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80BE2D-4B41-4B14-8CF9-C010948E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428875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Complete EfficientNetV2 V3 training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4660AB-E18E-4DF1-8AED-58D44664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24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B510EA-7A38-44AF-8102-8C0D5B9A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48000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Test on external deepfake datasets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BF6195-1990-4F6A-A003-E6EAE1CE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433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79AFDE-3077-4323-866B-B233FA13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667125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Add evidence retrieval for textual claims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0CBE39-C2B6-4D88-98C0-F026A615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62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F28B13-209A-45EC-8343-1AB07D52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286250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Move to authenticated HTTPS deployment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A51E21-9B29-4C07-AF06-FB4BD390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8637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Decision support—not forensic proof.</a:t>
            </a:r>
          </a:p>
        </p:txBody>
      </p:sp>
    </p:spTree>
    <p:extLst>
      <p:ext uri="{BB962C8B-B14F-4D97-AF65-F5344CB8AC3E}">
        <p14:creationId xmlns:p14="http://schemas.microsoft.com/office/powerpoint/2010/main" val="16214604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053997-D751-4D96-BC9E-245E75C3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1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6BBF7-72C7-4068-8A5B-7B245030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A2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7A23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ACB8D-B32C-4A4B-8D4A-5BF70DB1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33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3233F"/>
                </a:solidFill>
                <a:latin typeface="Aptos"/>
                <a:ea typeface="Aptos"/>
                <a:cs typeface="Aptos"/>
              </a:rPr>
              <a:t>References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C59EB-DC7E-45E0-8F1B-760B755E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E6FB9-1C40-4C7F-BD13-DD55EAAD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2573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7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77D"/>
                </a:solidFill>
                <a:latin typeface="Aptos"/>
                <a:ea typeface="Aptos"/>
                <a:cs typeface="Aptos"/>
              </a:rPr>
              <a:t>Selected foundations for the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A19D8-5F8E-4DFE-9A42-01A00F68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7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77D"/>
                </a:solidFill>
                <a:latin typeface="Aptos"/>
                <a:ea typeface="Aptos"/>
                <a:cs typeface="Aptos"/>
              </a:rPr>
              <a:t>BGSCET  •  Department of AI &amp; Data Science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6D7DA7-B2A9-4772-BCE8-B2E6F3A9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7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77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2FD241-19E3-41C6-A216-38ABA2F1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[1] A. Rössler et al., “FaceForensics++,” ICCV, 2019.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C167C3-4D64-4322-A97B-CB39C32A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579E8A-B75A-4F2F-A701-EFF1EBDA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[2] K. Shu et al., “FakeNewsNet,” arXiv:1809.01286, 2018.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85E92F-C16E-43AB-A624-51932D99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089D63-6467-4FBB-9166-F89DE027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[3] M. Sandler et al., “MobileNetV2,” CVPR, 2018.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539EC0-EABD-4870-A82F-94B5F812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E1784A-79F2-478F-94B9-BA524871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[4] M. Tan and Q. Le, “EfficientNet,” ICML, 2019.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6081C2-A508-4F28-8078-22B0F6BD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530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83CCCB-8174-456B-9A21-A2F31DDB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[5] M. Tan and Q. Le, “EfficientNetV2,” ICML, 2021.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C0FB78-C4DF-4828-A485-29E4AE46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527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F71A14-5859-4574-9097-47CD4B79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0987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[6] J. Thorne et al., “FEVER,” NAACL-HLT, 2018.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C294C1-AC9B-4E26-A2A3-EE471A2F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5282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393903-D6B0-426C-94E6-C107D987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100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[7] K. Nakamura et al., “r/Fakeddit,” LREC, 2020.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81461E-044C-4E6B-BCCF-01B23355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529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EBA87B-EA95-4D41-BF5C-31EAA6E6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1012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[8] T.-Y. Lin et al., “Focal Loss,” ICCV, 2017.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D36684-FD91-47EB-89CE-677749EE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530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E95CFC-1693-4997-AF38-32E1C6DF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1F3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7A1F35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387722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2026-08-10T09:05:32.6530000Z</dcterms:created>
  <dcterms:modified xsi:type="dcterms:W3CDTF">2026-08-10T09:05:32.6530000Z</dcterms:modified>
</coreProperties>
</file>