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dd69c851a74575" /><Relationship Type="http://schemas.openxmlformats.org/officeDocument/2006/relationships/extended-properties" Target="/docProps/app.xml" Id="R1fc41cc9a7584727" /><Relationship Type="http://schemas.openxmlformats.org/officeDocument/2006/relationships/officeDocument" Target="/ppt/presentation.xml" Id="R5ea7179d0485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9721d1a9c40d1"/>
  </p:sldMasterIdLst>
  <p:notesMasterIdLst>
    <p:notesMasterId xmlns:r="http://schemas.openxmlformats.org/officeDocument/2006/relationships" r:id="R8bcbda7deb3b4b53"/>
  </p:notesMasterIdLst>
  <p:sldIdLst>
    <p:sldId xmlns:r="http://schemas.openxmlformats.org/officeDocument/2006/relationships" id="256" r:id="R47763c8ab0874964"/>
    <p:sldId xmlns:r="http://schemas.openxmlformats.org/officeDocument/2006/relationships" id="257" r:id="R65920a815b2d4efe"/>
    <p:sldId xmlns:r="http://schemas.openxmlformats.org/officeDocument/2006/relationships" id="258" r:id="Re167b2b6a37b4bd9"/>
    <p:sldId xmlns:r="http://schemas.openxmlformats.org/officeDocument/2006/relationships" id="259" r:id="Rb20b4c57609c461c"/>
    <p:sldId xmlns:r="http://schemas.openxmlformats.org/officeDocument/2006/relationships" id="260" r:id="R7b37eae0690d4ce1"/>
    <p:sldId xmlns:r="http://schemas.openxmlformats.org/officeDocument/2006/relationships" id="261" r:id="R95f90be0890f4ad7"/>
    <p:sldId xmlns:r="http://schemas.openxmlformats.org/officeDocument/2006/relationships" id="262" r:id="Rc85de892c5ff477f"/>
    <p:sldId xmlns:r="http://schemas.openxmlformats.org/officeDocument/2006/relationships" id="263" r:id="R3fafb23ad49c46fd"/>
    <p:sldId xmlns:r="http://schemas.openxmlformats.org/officeDocument/2006/relationships" id="264" r:id="R6febe95eadb9422e"/>
    <p:sldId xmlns:r="http://schemas.openxmlformats.org/officeDocument/2006/relationships" id="265" r:id="Rd5ce13852d2a483e"/>
    <p:sldId xmlns:r="http://schemas.openxmlformats.org/officeDocument/2006/relationships" id="266" r:id="Rbd46532833944eda"/>
    <p:sldId xmlns:r="http://schemas.openxmlformats.org/officeDocument/2006/relationships" id="267" r:id="R27e807004b7148eb"/>
    <p:sldId xmlns:r="http://schemas.openxmlformats.org/officeDocument/2006/relationships" id="268" r:id="R665b9b31ad59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abfa062704b14" /><Relationship Type="http://schemas.openxmlformats.org/officeDocument/2006/relationships/slideMaster" Target="/ppt/slideMasters/slideMaster1.xml" Id="R56c9721d1a9c40d1" /><Relationship Type="http://schemas.openxmlformats.org/officeDocument/2006/relationships/notesMaster" Target="/ppt/notesMasters/notesMaster1.xml" Id="R8bcbda7deb3b4b53" /><Relationship Type="http://schemas.openxmlformats.org/officeDocument/2006/relationships/presProps" Target="/ppt/presProps.xml" Id="Rc606bdff29944667" /><Relationship Type="http://schemas.openxmlformats.org/officeDocument/2006/relationships/viewProps" Target="/ppt/viewProps.xml" Id="R9cde8a5f62a94ed7" /><Relationship Type="http://schemas.openxmlformats.org/officeDocument/2006/relationships/tableStyles" Target="/ppt/tableStyles.xml" Id="R1eeb4efdae0b40dc" /><Relationship Type="http://schemas.openxmlformats.org/officeDocument/2006/relationships/slide" Target="/ppt/slides/slide1.xml" Id="R47763c8ab0874964" /><Relationship Type="http://schemas.openxmlformats.org/officeDocument/2006/relationships/slide" Target="/ppt/slides/slide2.xml" Id="R65920a815b2d4efe" /><Relationship Type="http://schemas.openxmlformats.org/officeDocument/2006/relationships/slide" Target="/ppt/slides/slide3.xml" Id="Re167b2b6a37b4bd9" /><Relationship Type="http://schemas.openxmlformats.org/officeDocument/2006/relationships/slide" Target="/ppt/slides/slide4.xml" Id="Rb20b4c57609c461c" /><Relationship Type="http://schemas.openxmlformats.org/officeDocument/2006/relationships/slide" Target="/ppt/slides/slide5.xml" Id="R7b37eae0690d4ce1" /><Relationship Type="http://schemas.openxmlformats.org/officeDocument/2006/relationships/slide" Target="/ppt/slides/slide6.xml" Id="R95f90be0890f4ad7" /><Relationship Type="http://schemas.openxmlformats.org/officeDocument/2006/relationships/slide" Target="/ppt/slides/slide7.xml" Id="Rc85de892c5ff477f" /><Relationship Type="http://schemas.openxmlformats.org/officeDocument/2006/relationships/slide" Target="/ppt/slides/slide8.xml" Id="R3fafb23ad49c46fd" /><Relationship Type="http://schemas.openxmlformats.org/officeDocument/2006/relationships/slide" Target="/ppt/slides/slide9.xml" Id="R6febe95eadb9422e" /><Relationship Type="http://schemas.openxmlformats.org/officeDocument/2006/relationships/slide" Target="/ppt/slides/slide10.xml" Id="Rd5ce13852d2a483e" /><Relationship Type="http://schemas.openxmlformats.org/officeDocument/2006/relationships/slide" Target="/ppt/slides/slide11.xml" Id="Rbd46532833944eda" /><Relationship Type="http://schemas.openxmlformats.org/officeDocument/2006/relationships/slide" Target="/ppt/slides/slide12.xml" Id="R27e807004b7148eb" /><Relationship Type="http://schemas.openxmlformats.org/officeDocument/2006/relationships/slide" Target="/ppt/slides/slide13.xml" Id="R665b9b31ad59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606b56ac14e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a5c40d23343dd" /><Relationship Type="http://schemas.openxmlformats.org/officeDocument/2006/relationships/notesMaster" Target="/ppt/notesMasters/notesMaster1.xml" Id="R258f7684fda0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1200522424464c" /><Relationship Type="http://schemas.openxmlformats.org/officeDocument/2006/relationships/notesMaster" Target="/ppt/notesMasters/notesMaster1.xml" Id="R749ad6a97f8f4c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d4218d25ea4fc7" /><Relationship Type="http://schemas.openxmlformats.org/officeDocument/2006/relationships/notesMaster" Target="/ppt/notesMasters/notesMaster1.xml" Id="Rf32a34d0453142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73831fb30945a7" /><Relationship Type="http://schemas.openxmlformats.org/officeDocument/2006/relationships/notesMaster" Target="/ppt/notesMasters/notesMaster1.xml" Id="Rb0201750759541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825aba56a94158" /><Relationship Type="http://schemas.openxmlformats.org/officeDocument/2006/relationships/notesMaster" Target="/ppt/notesMasters/notesMaster1.xml" Id="R40743ed50af645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9f9af813c349b8" /><Relationship Type="http://schemas.openxmlformats.org/officeDocument/2006/relationships/notesMaster" Target="/ppt/notesMasters/notesMaster1.xml" Id="R1dd3f9fb153e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ed762901e4f57" /><Relationship Type="http://schemas.openxmlformats.org/officeDocument/2006/relationships/notesMaster" Target="/ppt/notesMasters/notesMaster1.xml" Id="Rd954c0aa87f2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689d80940e46c9" /><Relationship Type="http://schemas.openxmlformats.org/officeDocument/2006/relationships/notesMaster" Target="/ppt/notesMasters/notesMaster1.xml" Id="Re6d51cdb5494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ec2fda741843e8" /><Relationship Type="http://schemas.openxmlformats.org/officeDocument/2006/relationships/notesMaster" Target="/ppt/notesMasters/notesMaster1.xml" Id="Rab9f2564d7e248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ea275daa74ac5" /><Relationship Type="http://schemas.openxmlformats.org/officeDocument/2006/relationships/notesMaster" Target="/ppt/notesMasters/notesMaster1.xml" Id="R429fd3ebf7b445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6b0b3f2bc3499d" /><Relationship Type="http://schemas.openxmlformats.org/officeDocument/2006/relationships/notesMaster" Target="/ppt/notesMasters/notesMaster1.xml" Id="R5279717044d2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6a4c41e0af488e" /><Relationship Type="http://schemas.openxmlformats.org/officeDocument/2006/relationships/notesMaster" Target="/ppt/notesMasters/notesMaster1.xml" Id="Rba9ebb9e90364a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2190f6bbba467a" /><Relationship Type="http://schemas.openxmlformats.org/officeDocument/2006/relationships/notesMaster" Target="/ppt/notesMasters/notesMaster1.xml" Id="Rd22d0b505a624e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https://doi.org/10.1109/ICCV.2019.00009</a:t>
            </a:r>
          </a:p>
          <a:p xmlns:a="http://schemas.openxmlformats.org/drawingml/2006/main">
            <a:r>
              <a:t>https://arxiv.org/abs/1809.01286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 and implementation files in the Deepfake_Project workspace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figure: paper_architecture.png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implementation: app.py, training scripts, model metadata</a:t>
            </a:r>
          </a:p>
          <a:p xmlns:a="http://schemas.openxmlformats.org/drawingml/2006/main">
            <a:r>
              <a:t>Local project figure: paper_training_flow.png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stored experiment metadata summarized in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report: Deepfake_Misinformation_Detection_IEEE_Paper.docx</a:t>
            </a:r>
          </a:p>
          <a:p xmlns:a="http://schemas.openxmlformats.org/drawingml/2006/main">
            <a:r>
              <a:t>Local project figure: paper_decision_flow.png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https://doi.org/10.1109/ICCV.2019.00009</a:t>
            </a:r>
          </a:p>
          <a:p xmlns:a="http://schemas.openxmlformats.org/drawingml/2006/main">
            <a:r>
              <a:t>https://arxiv.org/abs/1809.01286</a:t>
            </a:r>
          </a:p>
          <a:p xmlns:a="http://schemas.openxmlformats.org/drawingml/2006/main">
            <a:r>
              <a:t>https://proceedings.mlr.press/v97/tan19a.html</a:t>
            </a:r>
          </a:p>
          <a:p xmlns:a="http://schemas.openxmlformats.org/drawingml/2006/main">
            <a:r>
              <a:t>https://aclanthology.org/N18-1074/</a:t>
            </a:r>
          </a:p>
          <a:p xmlns:a="http://schemas.openxmlformats.org/drawingml/2006/main">
            <a:r>
              <a:t>https://aclanthology.org/2020.lrec-1.755/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28ea3edf94a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69c6cb2094f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efcf952be42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86899109340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ace32d19142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c3cff03df641c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2b23a0f36469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382a737714df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5cc0182164c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dad127bc943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2606fdd15486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34045D-EF30-46A3-B57C-9081B9F847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3898B81-E94D-4F43-B926-A42977BA52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326C379-0324-45B1-B967-2ADB7F76AA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49C789-0E91-49E2-9E08-4B29A651CC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A46C64-4F9D-4BC2-B1A1-B1AA17E9C6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D17616-414E-4A28-8246-5E3EDEED4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C3E570-3DCA-4C0E-BBE9-6E21CD9CBE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DA6AFB-2513-4A6A-B8BB-6FD460DF8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B70AE5-86D1-4529-98F2-5FF053511D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E60497-0157-4C1D-A3E1-B6BF1DEB4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66C8D2-ECF9-452B-AD96-9693F7F62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62F42C-8B66-4B63-A55E-3D23A00E37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DEDED1-EF22-4138-B64F-A7D1FAA8C5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DBCA91-9C8E-4291-994D-C9B70BB5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6B47CD-8B06-4B27-B353-03CE7E65D2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A8F674-4A1C-4E79-9123-2F7C90999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61025C1-3DC9-4003-B29B-4437962F02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5111B47-604D-45DA-A99C-3677CBE459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61B6E7-5D2D-4F82-BD85-0C520678D6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8D62A9-B87A-4A88-9C57-C11BC6FF8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F6E216-F791-46FE-896B-EEFADA7C5D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0DAA81-5BD6-4372-B82A-19431163C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A54346-4091-413A-B820-7E45F0ECF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DEAC62B-0DDE-4039-80EB-CDE90D6468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CF317E8-70A4-42BF-93B9-BF5DDD521F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EA34F36-8650-4524-89D2-7398972ADBB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501D8E7-6081-40B4-B2FD-B5B31BD78D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E41CC9F-E483-4448-B50F-29A76F18C9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665898F-DBDB-4B30-ADD0-049E971CAD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8FC0AE-BD46-4E70-BF95-CB7DBD9CE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D2B0E9-7C2B-478B-A83A-EF7DA1514E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C631908-E98C-456F-9577-844EDAD93A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38B3C71-8C55-42D0-B4F2-000017742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CFEB5C-2CD4-4468-82C4-32C1DD87A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B6D01A-4BEA-4892-B648-0E08EC2C8F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7944A8-AC87-4FDA-B3FC-5DBB28019B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F930DF-09AC-4647-9F49-F1B99C799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30941A-B1C2-4755-90D4-0E694A2725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4585B2-4998-4A93-B929-5262FCA156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D0FF9BD-3B44-4FB4-AEF0-851CD092EC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D32EAC3-714A-41B7-971B-CD20426BF5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845E2F-A8A7-4823-ABEB-669D568C2B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3EA557-8EBD-403E-881A-0B53471713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BD30B1C-7A88-407F-BFC3-1E803CAB9B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2A01026-120F-4441-8238-FC9A882158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E666BE-AA9C-4B06-8E84-20AF1C647B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8CB496-639C-4E3A-9317-472929A05F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94B373-4D7F-4D5C-8E5A-4369D58F87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76288-CEF6-443E-8483-8AD41930E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F109E7-083A-4E35-AF26-D5A534F9AB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BB32D9-4447-4835-9E77-33D34BB94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1A45C3-2642-4DB6-8AB7-BD19425832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066993-7004-4797-A86D-A009B11A70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1155265-D825-4912-9406-2C3B75E33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27AF89-DCA8-4189-8278-34B9CF612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96D9FF-3690-4127-9548-C55C57850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66EDE7-65B0-4961-AB2C-A74E9519B8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9C714D-C629-4052-A60D-B958643886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8f3178263d4b6b" /><Relationship Type="http://schemas.openxmlformats.org/officeDocument/2006/relationships/slideLayout" Target="/ppt/slideLayouts/slideLayout1.xml" Id="R54df73d187d946d0" /><Relationship Type="http://schemas.openxmlformats.org/officeDocument/2006/relationships/slideLayout" Target="/ppt/slideLayouts/slideLayout2.xml" Id="R1e81b4f54c1e4ae1" /><Relationship Type="http://schemas.openxmlformats.org/officeDocument/2006/relationships/slideLayout" Target="/ppt/slideLayouts/slideLayout3.xml" Id="Rdcb35e7a08184422" /><Relationship Type="http://schemas.openxmlformats.org/officeDocument/2006/relationships/slideLayout" Target="/ppt/slideLayouts/slideLayout4.xml" Id="R8b7f39f8d05d435b" /><Relationship Type="http://schemas.openxmlformats.org/officeDocument/2006/relationships/slideLayout" Target="/ppt/slideLayouts/slideLayout5.xml" Id="R38ebaa6464ca4fb8" /><Relationship Type="http://schemas.openxmlformats.org/officeDocument/2006/relationships/slideLayout" Target="/ppt/slideLayouts/slideLayout6.xml" Id="R3ac5bceffd624ada" /><Relationship Type="http://schemas.openxmlformats.org/officeDocument/2006/relationships/slideLayout" Target="/ppt/slideLayouts/slideLayout7.xml" Id="R3ac5875dbcb742c4" /><Relationship Type="http://schemas.openxmlformats.org/officeDocument/2006/relationships/slideLayout" Target="/ppt/slideLayouts/slideLayout8.xml" Id="R28250dc664484c4f" /><Relationship Type="http://schemas.openxmlformats.org/officeDocument/2006/relationships/slideLayout" Target="/ppt/slideLayouts/slideLayout9.xml" Id="R2962d798ba6d4e7e" /><Relationship Type="http://schemas.openxmlformats.org/officeDocument/2006/relationships/slideLayout" Target="/ppt/slideLayouts/slideLayout10.xml" Id="Rf53f4b4511434d3e" /><Relationship Type="http://schemas.openxmlformats.org/officeDocument/2006/relationships/slideLayout" Target="/ppt/slideLayouts/slideLayout11.xml" Id="R5072e3c8bac345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9C2BEC0-74FC-4E9E-AE26-68B5C0D11A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0E51C6-278B-41BF-A3A2-84182ACE5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AA532C-6D95-4226-AD75-0BF8D41D563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AEA8C0-83F6-47F6-B38C-9286381E4D6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442166-7BC7-4E67-BFDD-443001DB60B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f73d187d946d0"/>
    <p:sldLayoutId xmlns:r="http://schemas.openxmlformats.org/officeDocument/2006/relationships" id="2147483650" r:id="R1e81b4f54c1e4ae1"/>
    <p:sldLayoutId xmlns:r="http://schemas.openxmlformats.org/officeDocument/2006/relationships" id="2147483651" r:id="Rdcb35e7a08184422"/>
    <p:sldLayoutId xmlns:r="http://schemas.openxmlformats.org/officeDocument/2006/relationships" id="2147483652" r:id="R8b7f39f8d05d435b"/>
    <p:sldLayoutId xmlns:r="http://schemas.openxmlformats.org/officeDocument/2006/relationships" id="2147483653" r:id="R38ebaa6464ca4fb8"/>
    <p:sldLayoutId xmlns:r="http://schemas.openxmlformats.org/officeDocument/2006/relationships" id="2147483654" r:id="R3ac5bceffd624ada"/>
    <p:sldLayoutId xmlns:r="http://schemas.openxmlformats.org/officeDocument/2006/relationships" id="2147483655" r:id="R3ac5875dbcb742c4"/>
    <p:sldLayoutId xmlns:r="http://schemas.openxmlformats.org/officeDocument/2006/relationships" id="2147483656" r:id="R28250dc664484c4f"/>
    <p:sldLayoutId xmlns:r="http://schemas.openxmlformats.org/officeDocument/2006/relationships" id="2147483657" r:id="R2962d798ba6d4e7e"/>
    <p:sldLayoutId xmlns:r="http://schemas.openxmlformats.org/officeDocument/2006/relationships" id="2147483658" r:id="Rf53f4b4511434d3e"/>
    <p:sldLayoutId xmlns:r="http://schemas.openxmlformats.org/officeDocument/2006/relationships" id="2147483659" r:id="R5072e3c8bac345a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ed6c6782ae408c" /><Relationship Type="http://schemas.openxmlformats.org/officeDocument/2006/relationships/image" Target="/ppt/media/image.png" Id="R1c5f14246446425e" /><Relationship Type="http://schemas.openxmlformats.org/officeDocument/2006/relationships/image" Target="/ppt/media/image2.png" Id="R10b9842bf2d5404e" /><Relationship Type="http://schemas.openxmlformats.org/officeDocument/2006/relationships/notesSlide" Target="/ppt/notesSlides/notesSlide1.xml" Id="Rd5bbea08998946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e118b88901434e" /><Relationship Type="http://schemas.openxmlformats.org/officeDocument/2006/relationships/image" Target="/ppt/media/image.png" Id="R726bf1d14eed4c43" /><Relationship Type="http://schemas.openxmlformats.org/officeDocument/2006/relationships/image" Target="/ppt/media/image3.png" Id="Rced60470e18d4cc4" /><Relationship Type="http://schemas.openxmlformats.org/officeDocument/2006/relationships/notesSlide" Target="/ppt/notesSlides/notesSlide2.xml" Id="R12df81c8f4a1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acd56eb5de410d" /><Relationship Type="http://schemas.openxmlformats.org/officeDocument/2006/relationships/image" Target="/ppt/media/image.png" Id="R9c7b72aa13c94b0f" /><Relationship Type="http://schemas.openxmlformats.org/officeDocument/2006/relationships/image" Target="/ppt/media/image3.png" Id="R8a860e135198405a" /><Relationship Type="http://schemas.openxmlformats.org/officeDocument/2006/relationships/notesSlide" Target="/ppt/notesSlides/notesSlide3.xml" Id="Rb3eaef04165d45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5d13b35db940f7" /><Relationship Type="http://schemas.openxmlformats.org/officeDocument/2006/relationships/image" Target="/ppt/media/image.png" Id="Ra17cb75d6b2e4935" /><Relationship Type="http://schemas.openxmlformats.org/officeDocument/2006/relationships/image" Target="/ppt/media/image3.png" Id="R880b097b1a2f47ab" /><Relationship Type="http://schemas.openxmlformats.org/officeDocument/2006/relationships/notesSlide" Target="/ppt/notesSlides/notesSlide4.xml" Id="Re651302b5a1e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18cdf7045540a9" /><Relationship Type="http://schemas.openxmlformats.org/officeDocument/2006/relationships/image" Target="/ppt/media/image.png" Id="R1835e8d80482433a" /><Relationship Type="http://schemas.openxmlformats.org/officeDocument/2006/relationships/image" Target="/ppt/media/image3.png" Id="Rd70c9edab40f4f9f" /><Relationship Type="http://schemas.openxmlformats.org/officeDocument/2006/relationships/notesSlide" Target="/ppt/notesSlides/notesSlide5.xml" Id="R6bd0a3d1649a45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ae7e68bb73405e" /><Relationship Type="http://schemas.openxmlformats.org/officeDocument/2006/relationships/image" Target="/ppt/media/image.png" Id="Rbbc127d9d159432d" /><Relationship Type="http://schemas.openxmlformats.org/officeDocument/2006/relationships/image" Target="/ppt/media/image4.png" Id="R48bfdf60f5f84b69" /><Relationship Type="http://schemas.openxmlformats.org/officeDocument/2006/relationships/notesSlide" Target="/ppt/notesSlides/notesSlide6.xml" Id="R222b7d13a3504b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50e51ae96b42dc" /><Relationship Type="http://schemas.openxmlformats.org/officeDocument/2006/relationships/image" Target="/ppt/media/image.png" Id="Rce4919fefcc84c7b" /><Relationship Type="http://schemas.openxmlformats.org/officeDocument/2006/relationships/image" Target="/ppt/media/image4.png" Id="R80d3f7a301d14372" /><Relationship Type="http://schemas.openxmlformats.org/officeDocument/2006/relationships/notesSlide" Target="/ppt/notesSlides/notesSlide7.xml" Id="R8c62c2ec20764e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662bdc9efe433d" /><Relationship Type="http://schemas.openxmlformats.org/officeDocument/2006/relationships/image" Target="/ppt/media/image.png" Id="Rb24dd6b1d1ad41cb" /><Relationship Type="http://schemas.openxmlformats.org/officeDocument/2006/relationships/image" Target="/ppt/media/image5.png" Id="R7255430d22034d5a" /><Relationship Type="http://schemas.openxmlformats.org/officeDocument/2006/relationships/image" Target="/ppt/media/image4.png" Id="Rdf4856b744544131" /><Relationship Type="http://schemas.openxmlformats.org/officeDocument/2006/relationships/notesSlide" Target="/ppt/notesSlides/notesSlide8.xml" Id="R7cf0854495dc4d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7468ce7e314960" /><Relationship Type="http://schemas.openxmlformats.org/officeDocument/2006/relationships/image" Target="/ppt/media/image.png" Id="Rc83c21f2442f46ef" /><Relationship Type="http://schemas.openxmlformats.org/officeDocument/2006/relationships/image" Target="/ppt/media/image4.png" Id="R78e57b95b0cc42b3" /><Relationship Type="http://schemas.openxmlformats.org/officeDocument/2006/relationships/image" Target="/ppt/media/image6.png" Id="R4f77d5ecb0c14cad" /><Relationship Type="http://schemas.openxmlformats.org/officeDocument/2006/relationships/notesSlide" Target="/ppt/notesSlides/notesSlide9.xml" Id="R3bc7eec23e0c49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b2aeaabeef4630" /><Relationship Type="http://schemas.openxmlformats.org/officeDocument/2006/relationships/image" Target="/ppt/media/image.png" Id="R006a4cc59d42447d" /><Relationship Type="http://schemas.openxmlformats.org/officeDocument/2006/relationships/image" Target="/ppt/media/image7.png" Id="Rf7b2c100063641f1" /><Relationship Type="http://schemas.openxmlformats.org/officeDocument/2006/relationships/notesSlide" Target="/ppt/notesSlides/notesSlide10.xml" Id="R2efc5babbc5041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7ce26d61a44a83" /><Relationship Type="http://schemas.openxmlformats.org/officeDocument/2006/relationships/image" Target="/ppt/media/image.png" Id="R27fd57bd6c64477d" /><Relationship Type="http://schemas.openxmlformats.org/officeDocument/2006/relationships/image" Target="/ppt/media/image7.png" Id="Rb2a684be4d2a4930" /><Relationship Type="http://schemas.openxmlformats.org/officeDocument/2006/relationships/image" Target="/ppt/media/image8.png" Id="R17d60e0bb5aa4a7c" /><Relationship Type="http://schemas.openxmlformats.org/officeDocument/2006/relationships/notesSlide" Target="/ppt/notesSlides/notesSlide11.xml" Id="R790ef1b739ed41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61ba0173e34152" /><Relationship Type="http://schemas.openxmlformats.org/officeDocument/2006/relationships/image" Target="/ppt/media/image.png" Id="R7a2d08ea84fe4a52" /><Relationship Type="http://schemas.openxmlformats.org/officeDocument/2006/relationships/image" Target="/ppt/media/image7.png" Id="Rf306d60d69d14bb6" /><Relationship Type="http://schemas.openxmlformats.org/officeDocument/2006/relationships/notesSlide" Target="/ppt/notesSlides/notesSlide12.xml" Id="R1dcc4a546996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7d94db6d1f46e7" /><Relationship Type="http://schemas.openxmlformats.org/officeDocument/2006/relationships/image" Target="/ppt/media/image.png" Id="R31c28d5dcf6d44d8" /><Relationship Type="http://schemas.openxmlformats.org/officeDocument/2006/relationships/image" Target="/ppt/media/image3.png" Id="R602adb767d23474e" /><Relationship Type="http://schemas.openxmlformats.org/officeDocument/2006/relationships/notesSlide" Target="/ppt/notesSlides/notesSlide13.xml" Id="Rabab881ff4364c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f1424644642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9496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3ECAED-BB46-4832-B958-B6F4FC06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070" y="1709420"/>
            <a:ext cx="7090409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000">
                <a:solidFill>
                  <a:srgbClr val="000000"/>
                </a:solidFill>
                <a:latin typeface="Noto Serif"/>
                <a:ea typeface="Noto Serif"/>
                <a:cs typeface="Noto Serif"/>
              </a:rPr>
              <a:t>LIGHTWEIGHT MULTIMODAL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9B871A-48C8-4E50-849D-26F6880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650" y="2208729"/>
            <a:ext cx="6083653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000">
                <a:solidFill>
                  <a:srgbClr val="000000"/>
                </a:solidFill>
                <a:latin typeface="Noto Serif"/>
                <a:ea typeface="Noto Serif"/>
                <a:cs typeface="Noto Serif"/>
              </a:rPr>
              <a:t>DEEPFAKE IMAGE AND</a:t>
            </a:r>
            <a:endParaRPr sz="4000" spc="37">
              <a:solidFill>
                <a:srgbClr val="000000"/>
              </a:solidFill>
              <a:latin typeface="Noto Serif"/>
              <a:ea typeface="Noto Serif"/>
              <a:cs typeface="Noto Serif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D4DA59-272F-41D2-8687-65C4F8C0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39" y="2763084"/>
            <a:ext cx="6900263" cy="615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solidFill>
                  <a:srgbClr val="000000"/>
                </a:solidFill>
                <a:latin typeface="Noto Serif"/>
                <a:ea typeface="Noto Serif"/>
                <a:cs typeface="Noto Serif"/>
              </a:rPr>
              <a:t>FAKE-NEWS DETECTION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345D06-EA7F-4A74-B41A-48088FD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480" y="3429000"/>
            <a:ext cx="141859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Presented by: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2169314-1F52-4585-AE9C-FE402D02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30" y="3778250"/>
            <a:ext cx="2348229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1. VENUPRASAD - 1MP23AD056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B056958-63C2-43C7-9574-9917E9C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020" y="4053840"/>
            <a:ext cx="2865120" cy="179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2. J THANMAY GOWDA - 1MP23AD019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792B6F1-6744-4002-A91C-A099AE3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420" y="4331970"/>
            <a:ext cx="2379979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3. RUSHIKESHAN - 1MP23AD043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5CF19E9-10DC-4ABA-B9F7-B8BF8FBF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4607560"/>
            <a:ext cx="82931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4. VINOD. 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C448ED-58FC-4E17-9C5A-83AD80C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710" y="4607560"/>
            <a:ext cx="1131569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- 1MP23AD059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D292377-671A-4E05-9437-7176C5C7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46040"/>
            <a:ext cx="22123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Under the Guidance of: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B34AAB-D492-4156-B67C-D837F9A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930" y="5420360"/>
            <a:ext cx="162687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Dr. Chandhini A G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786120-8583-45BA-9C60-68D9D08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40" y="5695950"/>
            <a:ext cx="233299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professor -Dept of AI&amp;DS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3F9DB82-8B69-44D0-B5BA-79CD6608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590" y="5970270"/>
            <a:ext cx="7188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BGSCET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8CAFC8-477F-4A48-A752-DC378BCE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150" y="6477000"/>
            <a:ext cx="394970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AI&amp;DS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9842bf2d5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14300"/>
            <a:ext cx="11391900" cy="1327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26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f1d14eed4c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64" y="9832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3B6A62-31D2-49BF-9D97-FF35C238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840" y="666750"/>
            <a:ext cx="2283460" cy="560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ABSTRACT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6DACEC-1E38-44FC-BD60-D018990D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1894839"/>
            <a:ext cx="105422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This project screens manipulated faces and misleading news text.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94FE28-82A8-4F81-ABD3-2E29A11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2240737"/>
            <a:ext cx="902683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It combines two lightweight models in one practical application.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D0BCC3-D3F8-4CC0-A6C5-2956BCF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2663190"/>
            <a:ext cx="105422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EfficientNet-B0 classifies images; TF-IDF with logistic regression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E1343B5-1B61-4B4E-ADA6-BCEF3E4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3048000"/>
            <a:ext cx="105422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classifies news patterns through Flask, web and Android clients.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AD89C8-A36D-42C1-AA78-2ED6DE50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3431540"/>
            <a:ext cx="105422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 image model achieved 80.41% held-out balanced accuracy.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EB47815-009A-45E8-8CD9-2A2B614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3815079"/>
            <a:ext cx="105422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Cross-source news testing revealed substantial dataset shift.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C22398F-1E66-4281-A3DD-B135183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4199890"/>
            <a:ext cx="726186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Uncertain outputs are sent for review, not treated as proof.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EED575-BC1E-424B-BA6D-080BFF9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77000"/>
            <a:ext cx="77470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pic>
        <p:nvPicPr>
          <p:cNvPr id="2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60470e18d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7950" cy="127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60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b72aa13c9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CA0C2C6-6655-4744-903B-B16A261F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290" y="717550"/>
            <a:ext cx="3488690" cy="560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INTRODUCTION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226322-2396-4DAF-99CF-E156097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94839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Deepfakes and misinformation reduce trust in digital content.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994F226-7E4D-4E2E-8172-CB1CEC67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278380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Images require spatial evidence; news requires language patterns.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86F051E-D9E7-4B10-9D47-4DD7EC74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663190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Existing tools often treat these related problems separately.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33D4BE-DAAC-4CD1-9E66-C2D412E8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048000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They may also become overconfident on unfamiliar data sources.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7864AB-EF1B-4AA5-AF87-78254572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31540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This project unifies both detection paths behind Flask APIs,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C9A1EA-B0F4-485B-A050-339D7EE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815079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uses calibrated thresholds with an uncertainty state, and returns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9B664E-93D5-43A4-9360-5F21CEC2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199890"/>
            <a:ext cx="170052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screening results through browser and Android interfaces.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F1E419E-24FE-430D-A614-424C499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77000"/>
            <a:ext cx="77470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pic>
        <p:nvPicPr>
          <p:cNvPr id="2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60e13519840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7950" cy="127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24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cb75d6b2e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9C5945-41A8-4D6A-9139-53478AD5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530" y="514350"/>
            <a:ext cx="4733290" cy="560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LITERATURE SURVEY</a:t>
            </a:r>
          </a:p>
        </p:txBody>
      </p:sp>
      <p:graphicFrame>
        <p:nvGraphicFramePr>
          <p:cNvPr id="11" name="Table 3"/>
          <p:cNvGraphicFramePr/>
          <p:nvPr/>
        </p:nvGraphicFramePr>
        <p:xfrm>
          <a:off xmlns:a="http://schemas.openxmlformats.org/drawingml/2006/main" x="675640" y="1389380"/>
          <a:ext xmlns:a="http://schemas.openxmlformats.org/drawingml/2006/main" cx="11383008" cy="4808219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1240"/>
                <a:gridCol w="2357120"/>
                <a:gridCol w="2967990"/>
                <a:gridCol w="2792729"/>
                <a:gridCol w="2233929"/>
              </a:tblGrid>
              <a:tr h="920750">
                <a:tc>
                  <a:txBody>
                    <a:bodyPr/>
                    <a:lstStyle/>
                    <a:p>
                      <a:r>
                        <a:t>S.No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90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AUTHOR &amp; YEAR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90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TITLE / DATASET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90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CONCEPT USED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90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KEY FINDINGS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190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</a:tr>
              <a:tr h="1543049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90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Rössler et al., 2019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90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FaceForensics++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90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CNN face analysis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90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Compression affects detection.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190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Shu et al., 2018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FakeNewsNet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Content + social context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Text alone misses context.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Nakamura et al., 2020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Fakeddit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Multimodal benchmark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Supports joint text-image study.</a:t>
                      </a:r>
                    </a:p>
                  </a:txBody>
                  <a:tcPr marL="0" marR="0" marT="0" marB="0">
                    <a:lnL w="6350" cmpd="sng">
                      <a:solidFill>
                        <a:srgbClr val="FFFFFF">
                          <a:alpha val="100000"/>
                        </a:srgbClr>
                      </a:solidFill>
                    </a:lnL>
                    <a:lnR w="6350" cmpd="sng">
                      <a:solidFill>
                        <a:srgbClr val="FFFFFF">
                          <a:alpha val="100000"/>
                        </a:srgbClr>
                      </a:solidFill>
                    </a:lnR>
                    <a:lnT w="6350" cmpd="sng">
                      <a:solidFill>
                        <a:srgbClr val="FFFFFF">
                          <a:alpha val="100000"/>
                        </a:srgbClr>
                      </a:solidFill>
                    </a:lnT>
                    <a:lnB w="6350" cmpd="sng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5DCE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B813A5-FDD1-427D-B070-2B6105E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77000"/>
            <a:ext cx="77470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b097b1a2f47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7950" cy="127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398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5e8d8048243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CDC736-488C-4D60-80B6-44DA6394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270" y="678180"/>
            <a:ext cx="4923789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PROBLEM STATEMENT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10872A-A5C0-4608-A5FC-E255C4F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1894839"/>
            <a:ext cx="104127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Deepfake images and deceptive news are usually checked by separate tools.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EB51B9-BF98-4E14-95B5-B7F881C1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2301240"/>
            <a:ext cx="101841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Image-only systems may fail on new generators, compression, and weak faces.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59C0B1-490E-421C-AD50-A02A2FC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2684780"/>
            <a:ext cx="101841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Text-only classifiers learn source language but cannot verify factual claims.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53557E-9FA5-4A3B-B2C3-E1AF58A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3069590"/>
            <a:ext cx="22186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Overconfident binary outputs can mislead users when evidence is uncertain.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6AA732B-9BFA-417D-9ED6-ECAD234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3582670"/>
            <a:ext cx="2931160" cy="44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9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There is a need for: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9B627E9-2F54-4915-8635-DDB6A711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4084320"/>
            <a:ext cx="8310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A unified image-and-text screening application.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523029-757B-4F76-B5E8-2AB24158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4594860"/>
            <a:ext cx="60820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Calibrated predictions with an explicit manual-review state.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31B89A-1FFF-49CA-A239-06313945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" y="5106670"/>
            <a:ext cx="79260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Lightweight web and Android access using moderate resources.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8529481-259B-4850-ABBB-6F19D081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77000"/>
            <a:ext cx="77470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pic>
        <p:nvPicPr>
          <p:cNvPr id="26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c9edab40f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7950" cy="127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7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127d9d15943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02AD07D-7670-4B71-86FD-8A60F27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740" y="632460"/>
            <a:ext cx="322326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Research Gaps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38AA8C-02F6-4CBB-BAE8-4C32B579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73250"/>
            <a:ext cx="56286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From existing research, we identified: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FB2450-1E9C-4E5E-A8DF-EBF84A92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695451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Few practical systems combine deepfake-image and news-text screening.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0FD51A-A717-49CD-B2BD-21A1080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95600"/>
            <a:ext cx="55638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Cross-source evaluation is often weaker than random-split evaluation.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ECEAED-059B-4A8D-BA93-8D5DD5AF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06140"/>
            <a:ext cx="61988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Binary decisions rarely expose low-confidence or ambiguous samples.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314A045-A301-490F-8432-7DD882E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917950"/>
            <a:ext cx="62636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Content-only news models cannot retrieve evidence or establish truth.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10A29CC-D678-4F08-BE3A-2701962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429760"/>
            <a:ext cx="601345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Lightweight deployment across web and mobile receives limited attention.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5676991-C892-46D2-912C-F0BC2494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2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fdf60f5f8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" y="133350"/>
            <a:ext cx="1377950" cy="127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85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919fefcc84c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C4CF20-D92E-446B-B5D7-C394976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090" y="688340"/>
            <a:ext cx="2305050" cy="560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Objectives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910A79E-957D-420B-B930-E349DB9B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73250"/>
            <a:ext cx="752601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Detect manipulated facial images using transfer learning.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0E22361-1AEA-488A-A439-8D44059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475107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Classify suspicious news text using interpretable sparse features.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C50D99-42E6-40A5-810E-C647D573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95600"/>
            <a:ext cx="47015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Evaluate images with balanced metrics and news by held-out source.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E1E398-8C95-4401-B66C-855D7098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06140"/>
            <a:ext cx="61556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Calibrate thresholds and reject uncertain predictions.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9149ECB-9918-4E20-8D26-067F2555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917950"/>
            <a:ext cx="45808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Integrate both models through Flask REST APIs.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7AB6A78-AB69-4FF9-8737-7BF0611A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429760"/>
            <a:ext cx="43459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Provide accessible web and Android user interfaces.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1BDF68E-4F4F-4F4C-AE99-E89FA34C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2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3f7a301d14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" y="133350"/>
            <a:ext cx="1377950" cy="127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44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dd6b1d1ad41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C928B0-6DF8-4E64-AB90-F6218B4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740" y="618490"/>
            <a:ext cx="3088640" cy="560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Methodology</a:t>
            </a:r>
            <a:r>
              <a:rPr sz="44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75D6C1-7852-480A-A50E-47EDDA9A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5430d22034d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905000" y="1403350"/>
            <a:ext cx="7918450" cy="53213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56b74454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" y="133350"/>
            <a:ext cx="1377950" cy="127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451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c21f2442f46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9AAD84-DFB1-4036-8DC1-AED74B9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690" y="717550"/>
            <a:ext cx="518541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Technology Used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2509BC0-2192-4F90-9A61-989665AE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73250"/>
            <a:ext cx="30302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Python, TensorFlow/Keras, scikit-learn.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7C027CC-8D95-4D0F-BEC2-8F51296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51689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22,044 balanced real and fake face images.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E52218-FA74-46BC-AC46-05D2A7DF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95600"/>
            <a:ext cx="29451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EfficientNet-B0 with 160 × 160 inputs.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E08D9C7-A6F1-402A-8B7C-AD8FD1F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06140"/>
            <a:ext cx="49999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186,032 news records from three sources.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B79C60-769C-43E2-8980-3FE84271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917950"/>
            <a:ext cx="328041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TF-IDF uni/bigrams with logistic regression.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56E639-FB70-4007-9F14-CF3A2C8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429760"/>
            <a:ext cx="36664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REST APIs for image and news prediction.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F6D0A2-5B22-4111-BB8B-67EA3C06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940300"/>
            <a:ext cx="481203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Web interface and native Android client.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D74EF2-6480-4F80-AF71-CA739D2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5452110"/>
            <a:ext cx="36652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Metadata-driven thresholds and loading.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96D8CD-4A11-4866-B6A0-EAE5169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27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57b95b0cc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" y="317500"/>
            <a:ext cx="1377950" cy="1276350"/>
          </a:xfrm>
          <a:prstGeom xmlns:a="http://schemas.openxmlformats.org/drawingml/2006/main" prst="rect">
            <a:avLst/>
          </a:prstGeom>
        </p:spPr>
      </p:pic>
      <p:pic>
        <p:nvPicPr>
          <p:cNvPr id="2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7d5ecb0c14c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04150" y="1047750"/>
            <a:ext cx="42418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33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a4cc59d4244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E14E91E-E110-4965-A1B8-2CF5985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" y="740410"/>
            <a:ext cx="654685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Experimental Results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1D08254-5618-4E69-AAD6-26FA646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73250"/>
            <a:ext cx="300101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Completed image V2: 80.41% test balanced accuracy.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61779E-8F06-4C29-B9EF-C3B4701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642366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Fake recall: 76.09%; real recall: 84.73%.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B1CD16-5A85-4201-BD6B-51F4EB9B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95600"/>
            <a:ext cx="724280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Cross-source news accuracy: 65.4%; macro-F1: 0.481.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24CBD37-C602-4132-93FA-8A7FE71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06140"/>
            <a:ext cx="732408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Fake-news recall on the unseen source was only 0.155.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E2B8C86-050A-47EE-A584-0BF7E0E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917950"/>
            <a:ext cx="756538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Result: uncertainty handling is essential for responsible use.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DE559A2-8A49-453F-97EF-3C399CA3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2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2c100063641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050" y="361950"/>
            <a:ext cx="1384300" cy="127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1713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d57bd6c6447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9664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7F9B96-95AB-43C1-90AC-156EA6A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" y="762000"/>
            <a:ext cx="457962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8F0550-D9F9-4AE4-9B39-48A01D8D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73250"/>
            <a:ext cx="496189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One service screens facial images and news text.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668DE7-5083-42A3-9BF0-B65AFFDD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85060"/>
            <a:ext cx="6846569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EfficientNet-B0 offers practical image accuracy.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459734-F54F-41A6-A63E-D2181AB2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95600"/>
            <a:ext cx="532892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Source-held-out testing exposes text-model limits.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249255-3DBF-4321-8987-535F079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406140"/>
            <a:ext cx="613156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Weak predictions are returned for manual review.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53ECB3-2C42-4FF9-9F9B-222F574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917950"/>
            <a:ext cx="611505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Results support decisions; they are not forensic proof.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A92D0ED-DE2B-4C21-A9EB-5897224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429760"/>
            <a:ext cx="555244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Next: V3, external tests, evidence retrieval and HTTPS.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7C61AF1-4232-48D4-A92E-168CE6D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2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84be4d2a4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050" y="361950"/>
            <a:ext cx="1384300" cy="1276350"/>
          </a:xfrm>
          <a:prstGeom xmlns:a="http://schemas.openxmlformats.org/drawingml/2006/main" prst="rect">
            <a:avLst/>
          </a:prstGeom>
        </p:spPr>
      </p:pic>
      <p:pic>
        <p:nvPicPr>
          <p:cNvPr id="2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60e0bb5aa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502650" y="1322069"/>
            <a:ext cx="3689350" cy="312293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426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d08ea84fe4a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6F61ED8-227C-4927-A500-A3A20519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0" y="762000"/>
            <a:ext cx="2216150" cy="67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4400" b="1" u="sng">
                <a:solidFill>
                  <a:srgbClr val="000000"/>
                </a:solidFill>
                <a:latin typeface="Roboto"/>
                <a:ea typeface="Roboto"/>
                <a:cs typeface="Roboto"/>
              </a:rPr>
              <a:t>References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B8808F-C403-467E-BEC2-AFE9E29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1831339"/>
            <a:ext cx="98488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[1] A. Rössler et al., “FaceForensics++: Learning to Detect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998E2F-D28D-44D8-B2BF-64D1A682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2037080"/>
            <a:ext cx="37071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Manipulated Facial Images,” ICCV, 2019, pp. 1–11.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AD1929-6FC4-497D-AD70-84E74DF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341880"/>
            <a:ext cx="102336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[2] K. Shu et al., “FakeNewsNet: A Data Repository for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221AD-E91B-49F5-9DB2-5439C2DD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2547620"/>
            <a:ext cx="8366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Studying Fake News on Social Media,” arXiv:1809.01286, 2018.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B3EFB62-FEC8-4795-9C90-D5854E5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2852420"/>
            <a:ext cx="100799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[3] M. Sandler et al., “MobileNetV2: Inverted Residuals and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5F601E-389D-47DD-8100-1D48E64B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3058160"/>
            <a:ext cx="59817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Linear Bottlenecks,” CVPR, 2018, pp. 4510–4520.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C4A1AF5-2041-4820-BDEA-0D29EB0C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3364229"/>
            <a:ext cx="97739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• [4] M. Tan and Q. Le, “EfficientNet: Rethinking Model Scaling,”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14DC90B-64EE-4F85-A6BD-E82007A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3569970"/>
            <a:ext cx="99428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ICML, 2019, pp. 6105–6114.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CB7CC4-E6FB-4C48-AB9F-938A210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3763010"/>
            <a:ext cx="86741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• [5] M. Tan and Q. Le, “EfficientNetV2: Smaller Models and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36BFD9-3AA4-447F-848B-92B7B46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066540"/>
            <a:ext cx="95567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Faster Training,” ICML, 2021, pp. 10096–10106.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E956E4-40C7-4C05-80D1-DCF41BE5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4273550"/>
            <a:ext cx="65811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• [6] J. Thorne et al., “FEVER: Fact Extraction and Verification,”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2FF1334-CCA6-454B-A902-C05226A0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4578350"/>
            <a:ext cx="101968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NAACL-HLT, 2018, pp. 809–819.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2BB6F-2457-4284-854B-487FB167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4784090"/>
            <a:ext cx="933576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• [7] K. Nakamura et al., “r/Fakeddit: A Multimodal Benchmark,”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23AA507-B7A3-4446-B09B-FD3384E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5090160"/>
            <a:ext cx="994283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</a:rPr>
              <a:t>LREC, 2020, pp. 6149–6157.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251326-04D6-47CF-9D49-9B99FD01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" y="5295900"/>
            <a:ext cx="57213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• [8] T.-Y. Lin et al., “Focal Loss for Dense Object Detection,” ICCV, 2017.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9DF2B80-B370-456F-9D92-A088746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" y="6477000"/>
            <a:ext cx="716279" cy="1536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898989"/>
                </a:solidFill>
                <a:latin typeface="Roboto"/>
                <a:ea typeface="Roboto"/>
                <a:cs typeface="Roboto"/>
              </a:rPr>
              <a:t>09-08-2026</a:t>
            </a:r>
          </a:p>
        </p:txBody>
      </p:sp>
      <p:pic>
        <p:nvPicPr>
          <p:cNvPr id="40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d60d69d14b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050" y="273050"/>
            <a:ext cx="1384300" cy="1276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0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28d5dcf6d44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207232-EF9A-4FCB-8E62-4DD893E4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620" y="2863850"/>
            <a:ext cx="3690620" cy="7632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60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THANK YOU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db767d23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7950" cy="127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3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2026-08-10T08:55:58.9970000Z</dcterms:created>
  <dcterms:modified xsi:type="dcterms:W3CDTF">2026-08-10T08:55:58.9970000Z</dcterms:modified>
</coreProperties>
</file>